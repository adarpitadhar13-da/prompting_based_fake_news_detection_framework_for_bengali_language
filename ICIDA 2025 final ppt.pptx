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8"/>
  </p:notesMasterIdLst>
  <p:sldIdLst>
    <p:sldId id="256" r:id="rId2"/>
    <p:sldId id="287" r:id="rId3"/>
    <p:sldId id="258" r:id="rId4"/>
    <p:sldId id="260" r:id="rId5"/>
    <p:sldId id="275" r:id="rId6"/>
    <p:sldId id="261" r:id="rId7"/>
    <p:sldId id="263" r:id="rId8"/>
    <p:sldId id="264" r:id="rId9"/>
    <p:sldId id="276" r:id="rId10"/>
    <p:sldId id="277" r:id="rId11"/>
    <p:sldId id="274" r:id="rId12"/>
    <p:sldId id="288" r:id="rId13"/>
    <p:sldId id="278" r:id="rId14"/>
    <p:sldId id="279" r:id="rId15"/>
    <p:sldId id="280" r:id="rId16"/>
    <p:sldId id="266" r:id="rId17"/>
    <p:sldId id="267" r:id="rId18"/>
    <p:sldId id="281" r:id="rId19"/>
    <p:sldId id="282" r:id="rId20"/>
    <p:sldId id="270" r:id="rId21"/>
    <p:sldId id="271" r:id="rId22"/>
    <p:sldId id="283" r:id="rId23"/>
    <p:sldId id="284" r:id="rId24"/>
    <p:sldId id="285" r:id="rId25"/>
    <p:sldId id="286" r:id="rId26"/>
    <p:sldId id="27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4FF15-20DF-4CDD-BAB1-B1D75BF176F4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22690-DD7E-4218-BB7F-393DB623C5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19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12F5-9085-4278-981E-CB9599ED3326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0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A98-2996-42FB-8C5D-F77F19CFBD4E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93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B077-34B8-411E-BCCD-305996E14322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15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67BC-AECD-4962-807C-3509E4621323}" type="datetime1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47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287A-5772-4136-A0C1-6DD5D29193E0}" type="datetime1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31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FC53A-3D87-43DB-BF3B-BDE3FB4B3722}" type="datetime1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32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5786E-E37B-4118-9206-8E8847FE2DE2}" type="datetime1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10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3D7B-FA1B-47AF-AA2B-2CB8C13DB3E6}" type="datetime1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1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A180-469F-4998-AD25-807E7D82E310}" type="datetime1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9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5A59-CC8B-4554-A431-12F9549D4052}" type="datetime1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45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3275-4964-4E47-A590-9821C2D2B0B9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280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3F23-FF0A-44D0-8559-38ECAC72DE8C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8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C09E-BCBF-40B9-85D3-74B01EB2168B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795BA-8893-41D5-AD97-AAA95A0E928C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326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8CC91-6429-42CF-8606-0B27043302C6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82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885D-FE79-404E-87AD-EBDF24730EA8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25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0B32-85A2-49B5-B2F9-BE87A2F48B52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11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29ADBE-4F5C-48F1-88D0-998F7BB663C4}" type="datetime1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3013A0-A18F-4C7F-A6CA-643EFC570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33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A688-5A34-8F7A-7AAD-2D853765F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7595" y="1407263"/>
            <a:ext cx="8107679" cy="338088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Prompting-based</a:t>
            </a:r>
            <a:r>
              <a:rPr lang="en-US" sz="3200" b="1" spc="80" dirty="0"/>
              <a:t> </a:t>
            </a:r>
            <a:r>
              <a:rPr lang="en-US" sz="3200" b="1" dirty="0"/>
              <a:t>fake</a:t>
            </a:r>
            <a:r>
              <a:rPr lang="en-US" sz="3200" b="1" spc="85" dirty="0"/>
              <a:t> </a:t>
            </a:r>
            <a:r>
              <a:rPr lang="en-US" sz="3200" b="1" dirty="0"/>
              <a:t>news</a:t>
            </a:r>
            <a:r>
              <a:rPr lang="en-US" sz="3200" b="1" spc="80" dirty="0"/>
              <a:t> </a:t>
            </a:r>
            <a:r>
              <a:rPr lang="en-US" sz="3200" b="1" dirty="0"/>
              <a:t>detection</a:t>
            </a:r>
            <a:r>
              <a:rPr lang="en-US" sz="3200" b="1" spc="80" dirty="0"/>
              <a:t> </a:t>
            </a:r>
            <a:r>
              <a:rPr lang="en-US" sz="3200" b="1" spc="-10" dirty="0"/>
              <a:t>framework</a:t>
            </a:r>
            <a:r>
              <a:rPr lang="en-US" sz="3200" b="1" spc="80" dirty="0"/>
              <a:t> </a:t>
            </a:r>
            <a:r>
              <a:rPr lang="en-US" sz="3200" b="1" spc="-25" dirty="0"/>
              <a:t>for </a:t>
            </a:r>
            <a:r>
              <a:rPr lang="en-US" sz="3200" b="1" spc="-10" dirty="0"/>
              <a:t>Bengali</a:t>
            </a:r>
            <a:br>
              <a:rPr lang="en-US" sz="3200" b="1" spc="-10" dirty="0"/>
            </a:br>
            <a:br>
              <a:rPr lang="en-US" sz="3200" b="1" spc="-10" dirty="0"/>
            </a:br>
            <a:r>
              <a:rPr lang="en-US" sz="3200" spc="-10" dirty="0"/>
              <a:t>Paper ID – </a:t>
            </a:r>
            <a:r>
              <a:rPr lang="en-US" sz="3200" b="1" spc="-10" dirty="0"/>
              <a:t>308</a:t>
            </a:r>
            <a:br>
              <a:rPr lang="en-US" sz="3200" spc="-10" dirty="0"/>
            </a:br>
            <a:br>
              <a:rPr lang="en-IN" sz="28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   </a:t>
            </a:r>
            <a:r>
              <a:rPr lang="en-IN" sz="2800" spc="-25" dirty="0" err="1">
                <a:latin typeface="Arial"/>
                <a:cs typeface="Arial"/>
              </a:rPr>
              <a:t>Shillpi</a:t>
            </a:r>
            <a:r>
              <a:rPr lang="en-IN" sz="2800" spc="-5" dirty="0">
                <a:latin typeface="Arial"/>
                <a:cs typeface="Arial"/>
              </a:rPr>
              <a:t> </a:t>
            </a:r>
            <a:r>
              <a:rPr lang="en-IN" sz="2800" spc="-25" dirty="0" err="1">
                <a:latin typeface="Arial"/>
                <a:cs typeface="Arial"/>
              </a:rPr>
              <a:t>Mishrra</a:t>
            </a:r>
            <a:r>
              <a:rPr lang="en-IN" sz="2800" spc="-25" dirty="0">
                <a:latin typeface="Arial"/>
                <a:cs typeface="Arial"/>
              </a:rPr>
              <a:t>,</a:t>
            </a:r>
            <a:r>
              <a:rPr lang="en-IN" sz="2800" dirty="0">
                <a:latin typeface="Arial"/>
                <a:cs typeface="Arial"/>
              </a:rPr>
              <a:t> Arpita </a:t>
            </a:r>
            <a:r>
              <a:rPr lang="en-IN" sz="2800" spc="-25" dirty="0">
                <a:latin typeface="Arial"/>
                <a:cs typeface="Arial"/>
              </a:rPr>
              <a:t>Dhar,</a:t>
            </a:r>
            <a:r>
              <a:rPr lang="en-IN" sz="2800" dirty="0">
                <a:latin typeface="Arial"/>
                <a:cs typeface="Arial"/>
              </a:rPr>
              <a:t> </a:t>
            </a:r>
            <a:r>
              <a:rPr lang="en-IN" sz="2800" spc="-45" dirty="0">
                <a:latin typeface="Arial"/>
                <a:cs typeface="Arial"/>
              </a:rPr>
              <a:t>Somnath</a:t>
            </a:r>
            <a:r>
              <a:rPr lang="en-IN" sz="2800" dirty="0">
                <a:latin typeface="Arial"/>
                <a:cs typeface="Arial"/>
              </a:rPr>
              <a:t> </a:t>
            </a:r>
            <a:r>
              <a:rPr lang="en-IN" sz="2800" spc="-25" dirty="0">
                <a:latin typeface="Arial"/>
                <a:cs typeface="Arial"/>
              </a:rPr>
              <a:t>Mondal,</a:t>
            </a:r>
            <a:r>
              <a:rPr lang="en-IN" sz="2800" dirty="0">
                <a:latin typeface="Arial"/>
                <a:cs typeface="Arial"/>
              </a:rPr>
              <a:t> </a:t>
            </a:r>
            <a:br>
              <a:rPr lang="en-IN" sz="2800" dirty="0">
                <a:latin typeface="Arial"/>
                <a:cs typeface="Arial"/>
              </a:rPr>
            </a:br>
            <a:r>
              <a:rPr lang="en-IN" sz="2800" dirty="0">
                <a:latin typeface="Arial"/>
                <a:cs typeface="Arial"/>
              </a:rPr>
              <a:t>Aditi</a:t>
            </a:r>
            <a:r>
              <a:rPr lang="en-IN" sz="2800" spc="-5" dirty="0">
                <a:latin typeface="Arial"/>
                <a:cs typeface="Arial"/>
              </a:rPr>
              <a:t> </a:t>
            </a:r>
            <a:r>
              <a:rPr lang="en-IN" sz="2800" spc="-70" dirty="0">
                <a:latin typeface="Arial"/>
                <a:cs typeface="Arial"/>
              </a:rPr>
              <a:t>Ghosh,</a:t>
            </a:r>
            <a:r>
              <a:rPr lang="en-IN" sz="2800" spc="5" dirty="0">
                <a:latin typeface="Arial"/>
                <a:cs typeface="Arial"/>
              </a:rPr>
              <a:t> </a:t>
            </a:r>
            <a:r>
              <a:rPr lang="en-IN" sz="2800" spc="-55" dirty="0" err="1">
                <a:latin typeface="Arial"/>
                <a:cs typeface="Arial"/>
              </a:rPr>
              <a:t>Sauvik</a:t>
            </a:r>
            <a:r>
              <a:rPr lang="en-IN" sz="2800" spc="-5" dirty="0">
                <a:latin typeface="Arial"/>
                <a:cs typeface="Arial"/>
              </a:rPr>
              <a:t> </a:t>
            </a:r>
            <a:r>
              <a:rPr lang="en-IN" sz="2800" spc="-25" dirty="0">
                <a:latin typeface="Arial"/>
                <a:cs typeface="Arial"/>
              </a:rPr>
              <a:t>Bal</a:t>
            </a:r>
            <a:br>
              <a:rPr lang="en-IN" sz="2800" dirty="0">
                <a:latin typeface="Arial"/>
                <a:cs typeface="Arial"/>
              </a:rPr>
            </a:br>
            <a:endParaRPr lang="en-IN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3A073-4813-58A8-3A05-F9FC07FE1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3079" y="4826474"/>
            <a:ext cx="7978271" cy="876718"/>
          </a:xfrm>
        </p:spPr>
        <p:txBody>
          <a:bodyPr/>
          <a:lstStyle/>
          <a:p>
            <a:pPr algn="ctr"/>
            <a:r>
              <a:rPr lang="en-IN" sz="2400" b="1" dirty="0"/>
              <a:t>Presented By – Arpita Dhar</a:t>
            </a:r>
            <a:endParaRPr lang="en-IN" sz="2400" b="1" dirty="0">
              <a:latin typeface="+mn-lt"/>
            </a:endParaRP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436EB-B783-4772-69C1-1E0329AB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08156" y="6451521"/>
            <a:ext cx="7072312" cy="365125"/>
          </a:xfrm>
        </p:spPr>
        <p:txBody>
          <a:bodyPr/>
          <a:lstStyle/>
          <a:p>
            <a:pPr algn="ctr"/>
            <a:r>
              <a:rPr lang="en-US" sz="1000" b="1" dirty="0"/>
              <a:t>4</a:t>
            </a:r>
            <a:r>
              <a:rPr lang="en-US" sz="1000" b="1" baseline="30000" dirty="0"/>
              <a:t>th</a:t>
            </a:r>
            <a:r>
              <a:rPr lang="en-US" sz="1000" b="1" dirty="0"/>
              <a:t> International Conference on Innovations in Data Analytics (ICIDA 2025</a:t>
            </a:r>
            <a:r>
              <a:rPr lang="en-US" b="1" dirty="0"/>
              <a:t>)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C91CDE-62FB-A27B-9EA9-F310CFC17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8" t="37213" r="14132" b="37344"/>
          <a:stretch>
            <a:fillRect/>
          </a:stretch>
        </p:blipFill>
        <p:spPr>
          <a:xfrm>
            <a:off x="6112686" y="5657268"/>
            <a:ext cx="2663252" cy="717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03A4C-3C6F-A743-3624-C19491063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354"/>
            <a:ext cx="12191999" cy="5740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0D1DFE-D85C-2E7F-D112-487DB4CF8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124" y="615385"/>
            <a:ext cx="1285875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1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2A8B-C2EF-4E73-96BF-29715809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675" y="295276"/>
            <a:ext cx="8029575" cy="1381124"/>
          </a:xfrm>
        </p:spPr>
        <p:txBody>
          <a:bodyPr/>
          <a:lstStyle/>
          <a:p>
            <a:r>
              <a:rPr lang="en-IN" sz="4000" b="1" u="sng" dirty="0"/>
              <a:t>Table</a:t>
            </a:r>
            <a:r>
              <a:rPr lang="en-IN" sz="4000" b="1" u="sng" spc="95" dirty="0"/>
              <a:t> </a:t>
            </a:r>
            <a:r>
              <a:rPr lang="en-IN" sz="4000" b="1" u="sng" dirty="0"/>
              <a:t>of</a:t>
            </a:r>
            <a:r>
              <a:rPr lang="en-IN" sz="4000" b="1" u="sng" spc="90" dirty="0"/>
              <a:t> </a:t>
            </a:r>
            <a:r>
              <a:rPr lang="en-IN" sz="4000" b="1" u="sng" spc="-10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FFC5C-1996-466E-824C-1BA1A0A64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2279" y="2000249"/>
            <a:ext cx="4002088" cy="3790951"/>
          </a:xfrm>
        </p:spPr>
        <p:txBody>
          <a:bodyPr>
            <a:normAutofit/>
          </a:bodyPr>
          <a:lstStyle/>
          <a:p>
            <a:r>
              <a:rPr lang="en-IN" sz="1800" spc="-20" dirty="0">
                <a:latin typeface="Arial"/>
                <a:cs typeface="Arial"/>
              </a:rPr>
              <a:t>1. </a:t>
            </a:r>
            <a:r>
              <a:rPr lang="en-IN" sz="1800" spc="-10" dirty="0">
                <a:latin typeface="Arial"/>
                <a:cs typeface="Arial"/>
              </a:rPr>
              <a:t>Introduction</a:t>
            </a:r>
          </a:p>
          <a:p>
            <a:pPr marL="0" indent="0">
              <a:buNone/>
            </a:pPr>
            <a:r>
              <a:rPr lang="en-IN" sz="1800" spc="-10" dirty="0">
                <a:latin typeface="Arial"/>
                <a:cs typeface="Arial"/>
              </a:rPr>
              <a:t> </a:t>
            </a:r>
          </a:p>
          <a:p>
            <a:r>
              <a:rPr lang="en-IN" sz="1800" spc="-10" dirty="0">
                <a:latin typeface="Arial"/>
                <a:cs typeface="Arial"/>
              </a:rPr>
              <a:t>2. </a:t>
            </a:r>
            <a:r>
              <a:rPr lang="en-IN" sz="1800" spc="-30" dirty="0">
                <a:latin typeface="Arial"/>
                <a:cs typeface="Arial"/>
              </a:rPr>
              <a:t>Early</a:t>
            </a:r>
            <a:r>
              <a:rPr lang="en-IN" sz="1800" spc="-40" dirty="0">
                <a:latin typeface="Arial"/>
                <a:cs typeface="Arial"/>
              </a:rPr>
              <a:t> </a:t>
            </a:r>
            <a:r>
              <a:rPr lang="en-IN" sz="1800" spc="-25" dirty="0">
                <a:latin typeface="Arial"/>
                <a:cs typeface="Arial"/>
              </a:rPr>
              <a:t>Work</a:t>
            </a:r>
          </a:p>
          <a:p>
            <a:endParaRPr lang="en-IN" sz="1800" spc="-25" dirty="0">
              <a:latin typeface="Arial"/>
              <a:cs typeface="Arial"/>
            </a:endParaRPr>
          </a:p>
          <a:p>
            <a:r>
              <a:rPr lang="en-IN" sz="1800" spc="-25" dirty="0">
                <a:latin typeface="Arial"/>
                <a:cs typeface="Arial"/>
              </a:rPr>
              <a:t>3. Problem Description</a:t>
            </a:r>
          </a:p>
          <a:p>
            <a:pPr marL="0" indent="0">
              <a:buNone/>
            </a:pPr>
            <a:r>
              <a:rPr lang="en-IN" sz="1800" spc="-25" dirty="0">
                <a:latin typeface="Arial"/>
                <a:cs typeface="Arial"/>
              </a:rPr>
              <a:t> </a:t>
            </a:r>
          </a:p>
          <a:p>
            <a:r>
              <a:rPr lang="en-IN" sz="1800" spc="-20" dirty="0">
                <a:latin typeface="Arial"/>
                <a:cs typeface="Arial"/>
              </a:rPr>
              <a:t>4. </a:t>
            </a:r>
            <a:r>
              <a:rPr lang="en-IN" sz="1800" spc="-30" dirty="0">
                <a:latin typeface="Arial"/>
                <a:cs typeface="Arial"/>
              </a:rPr>
              <a:t>Novelty</a:t>
            </a:r>
            <a:endParaRPr lang="en-IN" sz="1800" spc="-35" dirty="0">
              <a:latin typeface="Arial"/>
              <a:cs typeface="Arial"/>
            </a:endParaRPr>
          </a:p>
          <a:p>
            <a:pPr marL="0" indent="0">
              <a:buNone/>
            </a:pPr>
            <a:endParaRPr lang="en-IN" sz="1800" spc="-35" dirty="0">
              <a:latin typeface="Arial"/>
              <a:cs typeface="Arial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A9B95-B58C-4D87-AB1B-76BDE8A0B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6525" y="2000249"/>
            <a:ext cx="5016498" cy="3790951"/>
          </a:xfrm>
        </p:spPr>
        <p:txBody>
          <a:bodyPr>
            <a:normAutofit/>
          </a:bodyPr>
          <a:lstStyle/>
          <a:p>
            <a:r>
              <a:rPr lang="en-IN" sz="1800" spc="-35" dirty="0">
                <a:latin typeface="Arial"/>
                <a:cs typeface="Arial"/>
              </a:rPr>
              <a:t>5. Methodology</a:t>
            </a:r>
          </a:p>
          <a:p>
            <a:endParaRPr lang="en-IN" sz="1800" spc="-35" dirty="0">
              <a:latin typeface="Arial"/>
              <a:cs typeface="Arial"/>
            </a:endParaRPr>
          </a:p>
          <a:p>
            <a:r>
              <a:rPr lang="en-IN" sz="1800" spc="-35" dirty="0">
                <a:latin typeface="Arial"/>
                <a:cs typeface="Arial"/>
              </a:rPr>
              <a:t>6.  Dataset Details.</a:t>
            </a:r>
          </a:p>
          <a:p>
            <a:endParaRPr lang="en-IN" sz="1800" spc="-35" dirty="0">
              <a:latin typeface="Arial"/>
              <a:cs typeface="Arial"/>
            </a:endParaRPr>
          </a:p>
          <a:p>
            <a:r>
              <a:rPr lang="en-IN" spc="-35" dirty="0">
                <a:latin typeface="Arial"/>
                <a:cs typeface="Arial"/>
              </a:rPr>
              <a:t>7</a:t>
            </a:r>
            <a:r>
              <a:rPr lang="en-IN" sz="1800" spc="-35" dirty="0">
                <a:latin typeface="Arial"/>
                <a:cs typeface="Arial"/>
              </a:rPr>
              <a:t>.  Experimental Result</a:t>
            </a:r>
          </a:p>
          <a:p>
            <a:pPr marL="0" indent="0">
              <a:buNone/>
            </a:pPr>
            <a:endParaRPr lang="en-IN" sz="1800" spc="-35" dirty="0">
              <a:latin typeface="Arial"/>
              <a:cs typeface="Arial"/>
            </a:endParaRPr>
          </a:p>
          <a:p>
            <a:r>
              <a:rPr lang="en-IN" spc="-35" dirty="0">
                <a:latin typeface="Arial"/>
                <a:cs typeface="Arial"/>
              </a:rPr>
              <a:t>8</a:t>
            </a:r>
            <a:r>
              <a:rPr lang="en-IN" sz="1800" spc="-35" dirty="0">
                <a:latin typeface="Arial"/>
                <a:cs typeface="Arial"/>
              </a:rPr>
              <a:t>. Conclusion</a:t>
            </a:r>
          </a:p>
          <a:p>
            <a:endParaRPr lang="en-IN" sz="1800" spc="-35" dirty="0">
              <a:latin typeface="Arial"/>
              <a:cs typeface="Arial"/>
            </a:endParaRPr>
          </a:p>
          <a:p>
            <a:r>
              <a:rPr lang="en-IN" spc="-35" dirty="0">
                <a:latin typeface="Arial"/>
                <a:cs typeface="Arial"/>
              </a:rPr>
              <a:t>9</a:t>
            </a:r>
            <a:r>
              <a:rPr lang="en-IN" sz="1800" spc="-35" dirty="0">
                <a:latin typeface="Arial"/>
                <a:cs typeface="Arial"/>
              </a:rPr>
              <a:t>.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Bibliography</a:t>
            </a:r>
            <a:endParaRPr lang="en-IN" sz="1800" spc="-3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E4136-C6A5-4A45-A3BC-3E946CF88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8679" y="6380161"/>
            <a:ext cx="7084177" cy="365125"/>
          </a:xfrm>
        </p:spPr>
        <p:txBody>
          <a:bodyPr/>
          <a:lstStyle/>
          <a:p>
            <a:r>
              <a:rPr lang="en-US"/>
              <a:t>4th International Conference on Innovations in Data Analytics (ICIDA 2025)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631BCA-311E-4402-94B3-E79564E4C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4" y="1"/>
            <a:ext cx="1285875" cy="117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5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4FEC-0A94-243F-2141-60EC7547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D0E9A-5B95-6C3B-68B5-4954B5E4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219476"/>
            <a:ext cx="9094234" cy="846721"/>
          </a:xfrm>
        </p:spPr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AD318-427F-B3CF-D7C2-696E3E197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55043"/>
            <a:ext cx="10018713" cy="5002882"/>
          </a:xfrm>
        </p:spPr>
        <p:txBody>
          <a:bodyPr>
            <a:normAutofit lnSpcReduction="10000"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2400" spc="-40" dirty="0">
                <a:solidFill>
                  <a:srgbClr val="000000"/>
                </a:solidFill>
              </a:rPr>
              <a:t>Rapid</a:t>
            </a:r>
            <a:r>
              <a:rPr lang="en-US" sz="2400" spc="-30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growth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of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digital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50" dirty="0">
                <a:solidFill>
                  <a:srgbClr val="000000"/>
                </a:solidFill>
              </a:rPr>
              <a:t>media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85" dirty="0">
                <a:solidFill>
                  <a:srgbClr val="000000"/>
                </a:solidFill>
              </a:rPr>
              <a:t>has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70" dirty="0">
                <a:solidFill>
                  <a:srgbClr val="000000"/>
                </a:solidFill>
              </a:rPr>
              <a:t>increased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75" dirty="0">
                <a:solidFill>
                  <a:srgbClr val="000000"/>
                </a:solidFill>
              </a:rPr>
              <a:t>spread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of </a:t>
            </a:r>
            <a:r>
              <a:rPr lang="en-US" sz="2400" spc="-30" dirty="0">
                <a:solidFill>
                  <a:srgbClr val="000000"/>
                </a:solidFill>
              </a:rPr>
              <a:t>misinformation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in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spc="-35" dirty="0">
                <a:solidFill>
                  <a:srgbClr val="000000"/>
                </a:solidFill>
              </a:rPr>
              <a:t>Bengali,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affecting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elections,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public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spc="-50" dirty="0">
                <a:solidFill>
                  <a:srgbClr val="000000"/>
                </a:solidFill>
              </a:rPr>
              <a:t>safety,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and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social </a:t>
            </a:r>
            <a:r>
              <a:rPr lang="en-US" sz="2400" spc="-10" dirty="0">
                <a:solidFill>
                  <a:srgbClr val="000000"/>
                </a:solidFill>
              </a:rPr>
              <a:t>harmony.</a:t>
            </a:r>
            <a:endParaRPr lang="en-US" sz="2400" dirty="0"/>
          </a:p>
          <a:p>
            <a:pPr marL="12700" marR="308610">
              <a:lnSpc>
                <a:spcPct val="102600"/>
              </a:lnSpc>
              <a:spcBef>
                <a:spcPts val="300"/>
              </a:spcBef>
            </a:pPr>
            <a:r>
              <a:rPr lang="en-US" sz="2400" spc="-85" dirty="0">
                <a:solidFill>
                  <a:srgbClr val="000000"/>
                </a:solidFill>
              </a:rPr>
              <a:t>Fake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90" dirty="0">
                <a:solidFill>
                  <a:srgbClr val="000000"/>
                </a:solidFill>
              </a:rPr>
              <a:t>news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30" dirty="0">
                <a:solidFill>
                  <a:srgbClr val="000000"/>
                </a:solidFill>
              </a:rPr>
              <a:t>detection</a:t>
            </a:r>
            <a:r>
              <a:rPr lang="en-US" sz="2400" dirty="0">
                <a:solidFill>
                  <a:srgbClr val="000000"/>
                </a:solidFill>
              </a:rPr>
              <a:t> in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35" dirty="0">
                <a:solidFill>
                  <a:srgbClr val="000000"/>
                </a:solidFill>
              </a:rPr>
              <a:t>Bengali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is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spc="-50" dirty="0">
                <a:solidFill>
                  <a:srgbClr val="000000"/>
                </a:solidFill>
              </a:rPr>
              <a:t>challenging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55" dirty="0">
                <a:solidFill>
                  <a:srgbClr val="000000"/>
                </a:solidFill>
              </a:rPr>
              <a:t>due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to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limited </a:t>
            </a:r>
            <a:r>
              <a:rPr lang="en-US" sz="2400" spc="-30" dirty="0">
                <a:solidFill>
                  <a:srgbClr val="000000"/>
                </a:solidFill>
              </a:rPr>
              <a:t>annotated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data,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linguistic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complexity,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and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70" dirty="0">
                <a:solidFill>
                  <a:srgbClr val="000000"/>
                </a:solidFill>
              </a:rPr>
              <a:t>weak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generalization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of </a:t>
            </a:r>
            <a:r>
              <a:rPr lang="en-US" sz="2400" spc="-10" dirty="0">
                <a:solidFill>
                  <a:srgbClr val="000000"/>
                </a:solidFill>
              </a:rPr>
              <a:t>traditional</a:t>
            </a:r>
            <a:r>
              <a:rPr lang="en-US" sz="2400" spc="15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ML/DL</a:t>
            </a:r>
            <a:r>
              <a:rPr lang="en-US" sz="2400" spc="150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models.</a:t>
            </a:r>
            <a:endParaRPr lang="en-US" sz="2400" dirty="0"/>
          </a:p>
          <a:p>
            <a:pPr marL="12700" marR="233045">
              <a:lnSpc>
                <a:spcPct val="102600"/>
              </a:lnSpc>
              <a:spcBef>
                <a:spcPts val="300"/>
              </a:spcBef>
            </a:pPr>
            <a:r>
              <a:rPr lang="en-US" sz="2400" spc="-60" dirty="0">
                <a:solidFill>
                  <a:srgbClr val="000000"/>
                </a:solidFill>
              </a:rPr>
              <a:t>Recent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85" dirty="0">
                <a:solidFill>
                  <a:srgbClr val="000000"/>
                </a:solidFill>
              </a:rPr>
              <a:t>advances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in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LLMs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and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35" dirty="0">
                <a:solidFill>
                  <a:srgbClr val="000000"/>
                </a:solidFill>
              </a:rPr>
              <a:t>transformer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55" dirty="0">
                <a:solidFill>
                  <a:srgbClr val="000000"/>
                </a:solidFill>
              </a:rPr>
              <a:t>models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75" dirty="0">
                <a:solidFill>
                  <a:srgbClr val="000000"/>
                </a:solidFill>
              </a:rPr>
              <a:t>enable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effective </a:t>
            </a:r>
            <a:r>
              <a:rPr lang="en-US" sz="2400" spc="-30" dirty="0">
                <a:solidFill>
                  <a:srgbClr val="000000"/>
                </a:solidFill>
              </a:rPr>
              <a:t>detection</a:t>
            </a:r>
            <a:r>
              <a:rPr lang="en-US" sz="2400" spc="-10" dirty="0">
                <a:solidFill>
                  <a:srgbClr val="000000"/>
                </a:solidFill>
              </a:rPr>
              <a:t> through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prompt </a:t>
            </a:r>
            <a:r>
              <a:rPr lang="en-US" sz="2400" spc="-60" dirty="0">
                <a:solidFill>
                  <a:srgbClr val="000000"/>
                </a:solidFill>
              </a:rPr>
              <a:t>engineering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without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costly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spc="-30" dirty="0">
                <a:solidFill>
                  <a:srgbClr val="000000"/>
                </a:solidFill>
              </a:rPr>
              <a:t>fine-</a:t>
            </a:r>
            <a:r>
              <a:rPr lang="en-US" sz="2400" spc="-10" dirty="0">
                <a:solidFill>
                  <a:srgbClr val="000000"/>
                </a:solidFill>
              </a:rPr>
              <a:t>tuning.</a:t>
            </a:r>
            <a:endParaRPr lang="en-US" sz="2400" dirty="0"/>
          </a:p>
          <a:p>
            <a:pPr marL="12700" marR="408305">
              <a:lnSpc>
                <a:spcPct val="102600"/>
              </a:lnSpc>
              <a:spcBef>
                <a:spcPts val="300"/>
              </a:spcBef>
            </a:pPr>
            <a:r>
              <a:rPr lang="en-US" sz="2400" spc="-50" dirty="0">
                <a:solidFill>
                  <a:srgbClr val="000000"/>
                </a:solidFill>
              </a:rPr>
              <a:t>Prompt-</a:t>
            </a:r>
            <a:r>
              <a:rPr lang="en-US" sz="2400" spc="-30" dirty="0">
                <a:solidFill>
                  <a:srgbClr val="000000"/>
                </a:solidFill>
              </a:rPr>
              <a:t>based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methods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(zero-</a:t>
            </a:r>
            <a:r>
              <a:rPr lang="en-US" sz="2400" spc="-10" dirty="0">
                <a:solidFill>
                  <a:srgbClr val="000000"/>
                </a:solidFill>
              </a:rPr>
              <a:t>shot,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few-</a:t>
            </a:r>
            <a:r>
              <a:rPr lang="en-US" sz="2400" spc="-10" dirty="0">
                <a:solidFill>
                  <a:srgbClr val="000000"/>
                </a:solidFill>
              </a:rPr>
              <a:t>shot,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chain-</a:t>
            </a:r>
            <a:r>
              <a:rPr lang="en-US" sz="2400" spc="-25" dirty="0">
                <a:solidFill>
                  <a:srgbClr val="000000"/>
                </a:solidFill>
              </a:rPr>
              <a:t>of-</a:t>
            </a:r>
            <a:r>
              <a:rPr lang="en-US" sz="2400" spc="-10" dirty="0">
                <a:solidFill>
                  <a:srgbClr val="000000"/>
                </a:solidFill>
              </a:rPr>
              <a:t>thought) </a:t>
            </a:r>
            <a:r>
              <a:rPr lang="en-US" sz="2400" spc="-30" dirty="0">
                <a:solidFill>
                  <a:srgbClr val="000000"/>
                </a:solidFill>
              </a:rPr>
              <a:t>significantly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improve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55" dirty="0">
                <a:solidFill>
                  <a:srgbClr val="000000"/>
                </a:solidFill>
              </a:rPr>
              <a:t>performance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in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65" dirty="0">
                <a:solidFill>
                  <a:srgbClr val="000000"/>
                </a:solidFill>
              </a:rPr>
              <a:t>low-</a:t>
            </a:r>
            <a:r>
              <a:rPr lang="en-US" sz="2400" spc="-55" dirty="0">
                <a:solidFill>
                  <a:srgbClr val="000000"/>
                </a:solidFill>
              </a:rPr>
              <a:t>resource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settings.</a:t>
            </a:r>
            <a:endParaRPr lang="en-US" sz="2400" dirty="0"/>
          </a:p>
          <a:p>
            <a:pPr marL="12700" marR="339090">
              <a:lnSpc>
                <a:spcPct val="102600"/>
              </a:lnSpc>
              <a:spcBef>
                <a:spcPts val="300"/>
              </a:spcBef>
            </a:pPr>
            <a:r>
              <a:rPr lang="en-US" sz="2400" spc="-45" dirty="0">
                <a:solidFill>
                  <a:srgbClr val="000000"/>
                </a:solidFill>
              </a:rPr>
              <a:t>Experiments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on a </a:t>
            </a:r>
            <a:r>
              <a:rPr lang="en-US" sz="2400" spc="-60" dirty="0">
                <a:solidFill>
                  <a:srgbClr val="000000"/>
                </a:solidFill>
              </a:rPr>
              <a:t>balanced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35" dirty="0">
                <a:solidFill>
                  <a:srgbClr val="000000"/>
                </a:solidFill>
              </a:rPr>
              <a:t>Bengali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35" dirty="0">
                <a:solidFill>
                  <a:srgbClr val="000000"/>
                </a:solidFill>
              </a:rPr>
              <a:t>dataset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80" dirty="0">
                <a:solidFill>
                  <a:srgbClr val="000000"/>
                </a:solidFill>
              </a:rPr>
              <a:t>show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that T5 </a:t>
            </a:r>
            <a:r>
              <a:rPr lang="en-US" sz="2400" spc="-20" dirty="0">
                <a:solidFill>
                  <a:srgbClr val="000000"/>
                </a:solidFill>
              </a:rPr>
              <a:t>with </a:t>
            </a:r>
            <a:r>
              <a:rPr lang="en-US" sz="2400" spc="-25" dirty="0">
                <a:solidFill>
                  <a:srgbClr val="000000"/>
                </a:solidFill>
              </a:rPr>
              <a:t>chain-</a:t>
            </a:r>
            <a:r>
              <a:rPr lang="en-US" sz="2400" spc="-30" dirty="0">
                <a:solidFill>
                  <a:srgbClr val="000000"/>
                </a:solidFill>
              </a:rPr>
              <a:t>of-</a:t>
            </a:r>
            <a:r>
              <a:rPr lang="en-US" sz="2400" spc="-10" dirty="0">
                <a:solidFill>
                  <a:srgbClr val="000000"/>
                </a:solidFill>
              </a:rPr>
              <a:t>thought</a:t>
            </a:r>
            <a:r>
              <a:rPr lang="en-US" sz="2400" spc="-45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prompting </a:t>
            </a:r>
            <a:r>
              <a:rPr lang="en-US" sz="2400" spc="-75" dirty="0">
                <a:solidFill>
                  <a:srgbClr val="000000"/>
                </a:solidFill>
              </a:rPr>
              <a:t>achieves</a:t>
            </a:r>
            <a:r>
              <a:rPr lang="en-US" sz="2400" dirty="0">
                <a:solidFill>
                  <a:srgbClr val="000000"/>
                </a:solidFill>
              </a:rPr>
              <a:t> the</a:t>
            </a:r>
            <a:r>
              <a:rPr lang="en-US" sz="2400" spc="-25" dirty="0">
                <a:solidFill>
                  <a:srgbClr val="000000"/>
                </a:solidFill>
              </a:rPr>
              <a:t> best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spc="-35" dirty="0">
                <a:solidFill>
                  <a:srgbClr val="000000"/>
                </a:solidFill>
              </a:rPr>
              <a:t>results,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spc="-30" dirty="0">
                <a:solidFill>
                  <a:srgbClr val="000000"/>
                </a:solidFill>
              </a:rPr>
              <a:t>offering</a:t>
            </a:r>
            <a:r>
              <a:rPr lang="en-US" sz="2400" spc="-20" dirty="0">
                <a:solidFill>
                  <a:srgbClr val="000000"/>
                </a:solidFill>
              </a:rPr>
              <a:t> </a:t>
            </a:r>
            <a:r>
              <a:rPr lang="en-US" sz="2400" spc="-50" dirty="0">
                <a:solidFill>
                  <a:srgbClr val="000000"/>
                </a:solidFill>
              </a:rPr>
              <a:t>a </a:t>
            </a:r>
            <a:r>
              <a:rPr lang="en-US" sz="2400" spc="-65" dirty="0">
                <a:solidFill>
                  <a:srgbClr val="000000"/>
                </a:solidFill>
              </a:rPr>
              <a:t>scalable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and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data-</a:t>
            </a:r>
            <a:r>
              <a:rPr lang="en-US" sz="2400" spc="-25" dirty="0">
                <a:solidFill>
                  <a:srgbClr val="000000"/>
                </a:solidFill>
              </a:rPr>
              <a:t>efficient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solution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for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30" dirty="0">
                <a:solidFill>
                  <a:srgbClr val="000000"/>
                </a:solidFill>
              </a:rPr>
              <a:t>misinformation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detection.</a:t>
            </a:r>
            <a:endParaRPr lang="en-US" sz="2400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99E706-6C31-CEF4-6C12-E534338F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784" y="6446771"/>
            <a:ext cx="5786429" cy="191753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DFDE2E-9EDE-F4E8-B067-BCFA50FC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905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27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078A-37E2-8FDF-182E-A2F8B598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B1C9-BE05-F0BE-9807-F93AC664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9323598" cy="733426"/>
          </a:xfrm>
        </p:spPr>
        <p:txBody>
          <a:bodyPr/>
          <a:lstStyle/>
          <a:p>
            <a:r>
              <a:rPr lang="en-US" b="1" u="sng" dirty="0"/>
              <a:t>E</a:t>
            </a:r>
            <a:r>
              <a:rPr lang="en-IN" b="1" u="sng" dirty="0" err="1"/>
              <a:t>arly</a:t>
            </a:r>
            <a:r>
              <a:rPr lang="en-IN" b="1" u="sng" dirty="0"/>
              <a:t> Work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6C1CC-49B1-1C96-25F2-99B8BF86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7671" y="6723776"/>
            <a:ext cx="5620209" cy="45719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029FDA-09F5-922E-E46C-F4760EE9F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97" y="-1"/>
            <a:ext cx="1124503" cy="1255043"/>
          </a:xfrm>
          <a:prstGeom prst="rect">
            <a:avLst/>
          </a:prstGeom>
        </p:spPr>
      </p:pic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486A6799-1CD6-4C78-87CF-7488A89FB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1013838"/>
              </p:ext>
            </p:extLst>
          </p:nvPr>
        </p:nvGraphicFramePr>
        <p:xfrm>
          <a:off x="1752600" y="733426"/>
          <a:ext cx="9055309" cy="7334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6715">
                  <a:extLst>
                    <a:ext uri="{9D8B030D-6E8A-4147-A177-3AD203B41FA5}">
                      <a16:colId xmlns:a16="http://schemas.microsoft.com/office/drawing/2014/main" val="180313085"/>
                    </a:ext>
                  </a:extLst>
                </a:gridCol>
                <a:gridCol w="2847288">
                  <a:extLst>
                    <a:ext uri="{9D8B030D-6E8A-4147-A177-3AD203B41FA5}">
                      <a16:colId xmlns:a16="http://schemas.microsoft.com/office/drawing/2014/main" val="1887084319"/>
                    </a:ext>
                  </a:extLst>
                </a:gridCol>
                <a:gridCol w="2931306">
                  <a:extLst>
                    <a:ext uri="{9D8B030D-6E8A-4147-A177-3AD203B41FA5}">
                      <a16:colId xmlns:a16="http://schemas.microsoft.com/office/drawing/2014/main" val="2341366216"/>
                    </a:ext>
                  </a:extLst>
                </a:gridCol>
              </a:tblGrid>
              <a:tr h="733427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endParaRPr lang="en-US" sz="2000" b="1" spc="-4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4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4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4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r>
                        <a:rPr lang="en-IN" sz="2000" b="1" spc="-40" dirty="0">
                          <a:latin typeface="+mj-lt"/>
                          <a:cs typeface="Gill Sans MT"/>
                        </a:rPr>
                        <a:t>               </a:t>
                      </a:r>
                      <a:r>
                        <a:rPr sz="2000" b="1" spc="-40" dirty="0">
                          <a:latin typeface="+mj-lt"/>
                          <a:cs typeface="Gill Sans MT"/>
                        </a:rPr>
                        <a:t>Core</a:t>
                      </a:r>
                      <a:r>
                        <a:rPr sz="2000" b="1" dirty="0">
                          <a:latin typeface="+mj-lt"/>
                          <a:cs typeface="Gill Sans MT"/>
                        </a:rPr>
                        <a:t> </a:t>
                      </a:r>
                      <a:r>
                        <a:rPr sz="2000" b="1" spc="-20" dirty="0">
                          <a:latin typeface="+mj-lt"/>
                          <a:cs typeface="Gill Sans MT"/>
                        </a:rPr>
                        <a:t>Idea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endParaRPr lang="en-US" sz="2000" b="1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r>
                        <a:rPr lang="en-IN" sz="2000" b="1" dirty="0">
                          <a:latin typeface="+mj-lt"/>
                          <a:cs typeface="Gill Sans MT"/>
                        </a:rPr>
                        <a:t>              </a:t>
                      </a:r>
                      <a:r>
                        <a:rPr sz="2000" b="1" dirty="0">
                          <a:latin typeface="+mj-lt"/>
                          <a:cs typeface="Gill Sans MT"/>
                        </a:rPr>
                        <a:t>Main</a:t>
                      </a:r>
                      <a:r>
                        <a:rPr sz="2000" b="1" spc="85" dirty="0">
                          <a:latin typeface="+mj-lt"/>
                          <a:cs typeface="Gill Sans MT"/>
                        </a:rPr>
                        <a:t> </a:t>
                      </a:r>
                      <a:r>
                        <a:rPr sz="2000" b="1" spc="-10" dirty="0">
                          <a:latin typeface="+mj-lt"/>
                          <a:cs typeface="Gill Sans MT"/>
                        </a:rPr>
                        <a:t>Findings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endParaRPr lang="en-US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r>
                        <a:rPr lang="en-IN" sz="2000" b="1" spc="-10" dirty="0">
                          <a:latin typeface="+mj-lt"/>
                          <a:cs typeface="Gill Sans MT"/>
                        </a:rPr>
                        <a:t>                 </a:t>
                      </a:r>
                      <a:r>
                        <a:rPr sz="2000" b="1" spc="-10" dirty="0">
                          <a:latin typeface="+mj-lt"/>
                          <a:cs typeface="Gill Sans MT"/>
                        </a:rPr>
                        <a:t>Limitations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9695256"/>
                  </a:ext>
                </a:extLst>
              </a:tr>
            </a:tbl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D6577E21-4550-41C6-B3FD-66125CFF5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429426"/>
              </p:ext>
            </p:extLst>
          </p:nvPr>
        </p:nvGraphicFramePr>
        <p:xfrm>
          <a:off x="1752600" y="1466852"/>
          <a:ext cx="9055309" cy="516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3142207725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782088424"/>
                    </a:ext>
                  </a:extLst>
                </a:gridCol>
                <a:gridCol w="2930734">
                  <a:extLst>
                    <a:ext uri="{9D8B030D-6E8A-4147-A177-3AD203B41FA5}">
                      <a16:colId xmlns:a16="http://schemas.microsoft.com/office/drawing/2014/main" val="1524136594"/>
                    </a:ext>
                  </a:extLst>
                </a:gridCol>
              </a:tblGrid>
              <a:tr h="1613441"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spc="-20" dirty="0">
                          <a:latin typeface="Arial"/>
                          <a:cs typeface="Arial"/>
                        </a:rPr>
                        <a:t>Prompt-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lang="en-US" sz="1800" spc="27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few-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shot</a:t>
                      </a:r>
                      <a:r>
                        <a:rPr lang="en-US" sz="1800" spc="42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42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paradigm</a:t>
                      </a:r>
                      <a:r>
                        <a:rPr lang="en-US" sz="1800" spc="4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com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bining</a:t>
                      </a:r>
                      <a:r>
                        <a:rPr lang="en-US" sz="1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Textual 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prompts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with social-graph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25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25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alignment</a:t>
                      </a:r>
                      <a:r>
                        <a:rPr lang="en-US" sz="1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0" dirty="0">
                          <a:latin typeface="Arial"/>
                          <a:cs typeface="Arial"/>
                          <a:hlinkClick r:id="" action="ppaction://noaction"/>
                        </a:rPr>
                        <a:t>[18]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Improves 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few-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shot</a:t>
                      </a:r>
                      <a:r>
                        <a:rPr lang="en-US" sz="1800" spc="300" dirty="0">
                          <a:latin typeface="Arial"/>
                          <a:cs typeface="Arial"/>
                        </a:rPr>
                        <a:t>  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endParaRPr lang="en-US" sz="1800" spc="3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endParaRPr lang="en-US" sz="1800" spc="3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Detection</a:t>
                      </a:r>
                      <a:r>
                        <a:rPr lang="en-US" sz="1800" spc="30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via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prompt–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  <a:tabLst>
                          <a:tab pos="893444" algn="l"/>
                        </a:tabLst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graph</a:t>
                      </a:r>
                      <a:r>
                        <a:rPr lang="en-US" sz="1800" spc="23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alignment.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Mostly</a:t>
                      </a:r>
                      <a:r>
                        <a:rPr lang="en-US" sz="1800" spc="26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English;</a:t>
                      </a:r>
                      <a:r>
                        <a:rPr lang="en-US" sz="1800" spc="375" dirty="0">
                          <a:latin typeface="Arial"/>
                          <a:cs typeface="Arial"/>
                        </a:rPr>
                        <a:t> 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Bengali</a:t>
                      </a:r>
                      <a:r>
                        <a:rPr lang="en-US" sz="1800" spc="3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adaptation</a:t>
                      </a:r>
                      <a:endParaRPr lang="en-US" sz="1800" spc="305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305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Missing requires</a:t>
                      </a:r>
                      <a:r>
                        <a:rPr lang="en-US" sz="1800" spc="204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204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unavail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able</a:t>
                      </a:r>
                      <a:r>
                        <a:rPr lang="en-US" sz="1800" spc="1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1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25" dirty="0">
                          <a:latin typeface="Arial"/>
                          <a:cs typeface="Arial"/>
                        </a:rPr>
                        <a:t>social-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graph</a:t>
                      </a:r>
                      <a:r>
                        <a:rPr lang="en-US" sz="1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data.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997513"/>
                  </a:ext>
                </a:extLst>
              </a:tr>
              <a:tr h="1273258"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Zero-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shot prompt</a:t>
                      </a:r>
                      <a:r>
                        <a:rPr lang="en-US" sz="1800" spc="24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engineering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lang="en-US" sz="1800" spc="27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GPT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for</a:t>
                      </a:r>
                      <a:r>
                        <a:rPr lang="en-US" sz="1800" spc="65" dirty="0">
                          <a:latin typeface="Arial"/>
                          <a:cs typeface="Arial"/>
                        </a:rPr>
                        <a:t> cross-domain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65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65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spc="-25" dirty="0">
                          <a:latin typeface="Arial"/>
                          <a:cs typeface="Arial"/>
                        </a:rPr>
                        <a:t>fake-</a:t>
                      </a:r>
                      <a:r>
                        <a:rPr lang="en-US" sz="18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news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detection</a:t>
                      </a:r>
                      <a:r>
                        <a:rPr lang="en-US"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0" dirty="0">
                          <a:latin typeface="Arial"/>
                          <a:cs typeface="Arial"/>
                          <a:hlinkClick r:id="" action="ppaction://noaction"/>
                        </a:rPr>
                        <a:t>[19]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Good</a:t>
                      </a:r>
                      <a:r>
                        <a:rPr lang="en-US" sz="1800" spc="41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zero-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shot</a:t>
                      </a:r>
                      <a:r>
                        <a:rPr lang="en-US" sz="1800" spc="415" dirty="0">
                          <a:latin typeface="Arial"/>
                          <a:cs typeface="Arial"/>
                        </a:rPr>
                        <a:t> 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performance</a:t>
                      </a:r>
                      <a:r>
                        <a:rPr lang="en-US" sz="1800" spc="15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lang="en-US" sz="1800" spc="155" dirty="0">
                          <a:latin typeface="Arial"/>
                          <a:cs typeface="Arial"/>
                        </a:rPr>
                        <a:t>  </a:t>
                      </a: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20" dirty="0">
                          <a:latin typeface="Arial"/>
                          <a:cs typeface="Arial"/>
                        </a:rPr>
                        <a:t>well- </a:t>
                      </a:r>
                      <a:r>
                        <a:rPr lang="en-US" sz="1800" spc="-30" dirty="0">
                          <a:latin typeface="Arial"/>
                          <a:cs typeface="Arial"/>
                        </a:rPr>
                        <a:t>designed</a:t>
                      </a:r>
                      <a:r>
                        <a:rPr lang="en-US"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prompts.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Sensitive</a:t>
                      </a:r>
                      <a:r>
                        <a:rPr lang="en-US" sz="1800" spc="27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lang="en-US" sz="1800" spc="28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wording;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weak</a:t>
                      </a:r>
                      <a:r>
                        <a:rPr lang="en-US" sz="1800" spc="420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in</a:t>
                      </a:r>
                      <a:r>
                        <a:rPr lang="en-US" sz="1800" spc="42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domain- </a:t>
                      </a: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specific</a:t>
                      </a:r>
                      <a:r>
                        <a:rPr lang="en-US" sz="1800" spc="19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tasks;</a:t>
                      </a:r>
                      <a:r>
                        <a:rPr lang="en-US" sz="1800" spc="340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not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validated</a:t>
                      </a:r>
                      <a:r>
                        <a:rPr lang="en-US"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on</a:t>
                      </a:r>
                      <a:r>
                        <a:rPr lang="en-US"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Bengali.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273358"/>
                  </a:ext>
                </a:extLst>
              </a:tr>
              <a:tr h="2050819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US" sz="1800" spc="-3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endParaRPr lang="en-US" sz="1800" spc="-3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US" sz="1800" spc="-30" dirty="0">
                          <a:latin typeface="Arial"/>
                          <a:cs typeface="Arial"/>
                        </a:rPr>
                        <a:t>Task-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specific</a:t>
                      </a:r>
                      <a:r>
                        <a:rPr lang="en-US" sz="1800" spc="32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prompt-</a:t>
                      </a:r>
                    </a:p>
                    <a:p>
                      <a:pPr marL="75565">
                        <a:lnSpc>
                          <a:spcPts val="835"/>
                        </a:lnSpc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tuning</a:t>
                      </a:r>
                      <a:r>
                        <a:rPr lang="en-US" sz="1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lang="en-US" sz="1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contextual </a:t>
                      </a: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augmentation</a:t>
                      </a:r>
                      <a:r>
                        <a:rPr lang="en-US"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0" dirty="0">
                          <a:latin typeface="Arial"/>
                          <a:cs typeface="Arial"/>
                          <a:hlinkClick r:id="" action="ppaction://noaction"/>
                        </a:rPr>
                        <a:t>[20]</a:t>
                      </a: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vocabulary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	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remain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781050" algn="l"/>
                        </a:tabLst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challenging.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Strong</a:t>
                      </a:r>
                      <a:r>
                        <a:rPr lang="en-US" sz="1800" spc="34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few-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shot</a:t>
                      </a:r>
                      <a:r>
                        <a:rPr lang="en-US" sz="1800" spc="340" dirty="0">
                          <a:latin typeface="Arial"/>
                          <a:cs typeface="Arial"/>
                        </a:rPr>
                        <a:t> 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performance</a:t>
                      </a:r>
                      <a:r>
                        <a:rPr lang="en-US" sz="1800" spc="33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lang="en-US" sz="1800" spc="335" dirty="0">
                          <a:latin typeface="Arial"/>
                          <a:cs typeface="Arial"/>
                        </a:rPr>
                        <a:t> </a:t>
                      </a: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</a:pP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contextual</a:t>
                      </a:r>
                      <a:r>
                        <a:rPr lang="en-US" sz="1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features.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  <a:tabLst>
                          <a:tab pos="580390" algn="l"/>
                          <a:tab pos="857250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  <a:tabLst>
                          <a:tab pos="580390" algn="l"/>
                          <a:tab pos="857250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  <a:tabLst>
                          <a:tab pos="580390" algn="l"/>
                          <a:tab pos="857250" algn="l"/>
                        </a:tabLst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Trained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	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on  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high-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  <a:tabLst>
                          <a:tab pos="616585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  <a:tabLst>
                          <a:tab pos="616585" algn="l"/>
                        </a:tabLst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  <a:tabLst>
                          <a:tab pos="616585" algn="l"/>
                        </a:tabLst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Resource  </a:t>
                      </a:r>
                      <a:r>
                        <a:rPr lang="en-US" sz="1800" spc="-40" dirty="0">
                          <a:latin typeface="Arial"/>
                          <a:cs typeface="Arial"/>
                        </a:rPr>
                        <a:t>languages;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  <a:tabLst>
                          <a:tab pos="616585" algn="l"/>
                        </a:tabLst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  <a:tabLst>
                          <a:tab pos="616585" algn="l"/>
                        </a:tabLst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>
                        <a:lnSpc>
                          <a:spcPts val="950"/>
                        </a:lnSpc>
                        <a:spcBef>
                          <a:spcPts val="20"/>
                        </a:spcBef>
                        <a:tabLst>
                          <a:tab pos="616585" algn="l"/>
                        </a:tabLst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Bengali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tokenization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850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73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376CE3-FFEE-4C8C-BF78-2FC25F7F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1525" y="6543675"/>
            <a:ext cx="5074931" cy="3143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9513F-60DA-4A33-A078-8ACC439B2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075" y="-1"/>
            <a:ext cx="932625" cy="12550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CF9DE86-E7FA-4AC5-9005-7FDFD1F18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532395"/>
              </p:ext>
            </p:extLst>
          </p:nvPr>
        </p:nvGraphicFramePr>
        <p:xfrm>
          <a:off x="2032000" y="66676"/>
          <a:ext cx="8931276" cy="7810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7092">
                  <a:extLst>
                    <a:ext uri="{9D8B030D-6E8A-4147-A177-3AD203B41FA5}">
                      <a16:colId xmlns:a16="http://schemas.microsoft.com/office/drawing/2014/main" val="1798378715"/>
                    </a:ext>
                  </a:extLst>
                </a:gridCol>
                <a:gridCol w="2977092">
                  <a:extLst>
                    <a:ext uri="{9D8B030D-6E8A-4147-A177-3AD203B41FA5}">
                      <a16:colId xmlns:a16="http://schemas.microsoft.com/office/drawing/2014/main" val="1171871518"/>
                    </a:ext>
                  </a:extLst>
                </a:gridCol>
                <a:gridCol w="2977092">
                  <a:extLst>
                    <a:ext uri="{9D8B030D-6E8A-4147-A177-3AD203B41FA5}">
                      <a16:colId xmlns:a16="http://schemas.microsoft.com/office/drawing/2014/main" val="1703254016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endParaRPr lang="en-US" sz="2000" b="1" spc="-4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4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4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4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r>
                        <a:rPr lang="en-IN" sz="2000" b="1" spc="-40" dirty="0">
                          <a:latin typeface="+mj-lt"/>
                          <a:cs typeface="Gill Sans MT"/>
                        </a:rPr>
                        <a:t>               </a:t>
                      </a:r>
                      <a:r>
                        <a:rPr sz="2000" b="1" spc="-40" dirty="0">
                          <a:latin typeface="+mj-lt"/>
                          <a:cs typeface="Gill Sans MT"/>
                        </a:rPr>
                        <a:t>Core</a:t>
                      </a:r>
                      <a:r>
                        <a:rPr sz="2000" b="1" dirty="0">
                          <a:latin typeface="+mj-lt"/>
                          <a:cs typeface="Gill Sans MT"/>
                        </a:rPr>
                        <a:t> </a:t>
                      </a:r>
                      <a:r>
                        <a:rPr sz="2000" b="1" spc="-20" dirty="0">
                          <a:latin typeface="+mj-lt"/>
                          <a:cs typeface="Gill Sans MT"/>
                        </a:rPr>
                        <a:t>Idea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endParaRPr lang="en-US" sz="2000" b="1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r>
                        <a:rPr lang="en-IN" sz="2000" b="1" dirty="0">
                          <a:latin typeface="+mj-lt"/>
                          <a:cs typeface="Gill Sans MT"/>
                        </a:rPr>
                        <a:t>              </a:t>
                      </a:r>
                      <a:r>
                        <a:rPr sz="2000" b="1" dirty="0">
                          <a:latin typeface="+mj-lt"/>
                          <a:cs typeface="Gill Sans MT"/>
                        </a:rPr>
                        <a:t>Main</a:t>
                      </a:r>
                      <a:r>
                        <a:rPr sz="2000" b="1" spc="85" dirty="0">
                          <a:latin typeface="+mj-lt"/>
                          <a:cs typeface="Gill Sans MT"/>
                        </a:rPr>
                        <a:t> </a:t>
                      </a:r>
                      <a:r>
                        <a:rPr sz="2000" b="1" spc="-10" dirty="0">
                          <a:latin typeface="+mj-lt"/>
                          <a:cs typeface="Gill Sans MT"/>
                        </a:rPr>
                        <a:t>Findings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endParaRPr lang="en-US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840"/>
                        </a:lnSpc>
                      </a:pPr>
                      <a:r>
                        <a:rPr lang="en-IN" sz="2000" b="1" spc="-10" dirty="0">
                          <a:latin typeface="+mj-lt"/>
                          <a:cs typeface="Gill Sans MT"/>
                        </a:rPr>
                        <a:t>                 </a:t>
                      </a:r>
                      <a:r>
                        <a:rPr sz="2000" b="1" spc="-10" dirty="0">
                          <a:latin typeface="+mj-lt"/>
                          <a:cs typeface="Gill Sans MT"/>
                        </a:rPr>
                        <a:t>Limitations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62592013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60787EC-7F03-4BB6-BB0D-895974F92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399223"/>
              </p:ext>
            </p:extLst>
          </p:nvPr>
        </p:nvGraphicFramePr>
        <p:xfrm>
          <a:off x="2032000" y="847725"/>
          <a:ext cx="8931276" cy="57192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7092">
                  <a:extLst>
                    <a:ext uri="{9D8B030D-6E8A-4147-A177-3AD203B41FA5}">
                      <a16:colId xmlns:a16="http://schemas.microsoft.com/office/drawing/2014/main" val="3567580810"/>
                    </a:ext>
                  </a:extLst>
                </a:gridCol>
                <a:gridCol w="2977092">
                  <a:extLst>
                    <a:ext uri="{9D8B030D-6E8A-4147-A177-3AD203B41FA5}">
                      <a16:colId xmlns:a16="http://schemas.microsoft.com/office/drawing/2014/main" val="666958828"/>
                    </a:ext>
                  </a:extLst>
                </a:gridCol>
                <a:gridCol w="2977092">
                  <a:extLst>
                    <a:ext uri="{9D8B030D-6E8A-4147-A177-3AD203B41FA5}">
                      <a16:colId xmlns:a16="http://schemas.microsoft.com/office/drawing/2014/main" val="3029559460"/>
                    </a:ext>
                  </a:extLst>
                </a:gridCol>
              </a:tblGrid>
              <a:tr h="1441597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Prompt</a:t>
                      </a:r>
                      <a:r>
                        <a:rPr lang="en-US" sz="1800" spc="36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templates</a:t>
                      </a:r>
                      <a:r>
                        <a:rPr lang="en-US" sz="1800" spc="36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140" dirty="0">
                          <a:latin typeface="Arial"/>
                          <a:cs typeface="Arial"/>
                        </a:rPr>
                        <a:t>+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fine-tuning</a:t>
                      </a:r>
                      <a:r>
                        <a:rPr lang="en-US" sz="1800" spc="15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lang="en-US" sz="18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Bangla </a:t>
                      </a: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-2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PLMs</a:t>
                      </a:r>
                      <a:r>
                        <a:rPr lang="en-US" sz="1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0" dirty="0">
                          <a:latin typeface="Arial"/>
                          <a:cs typeface="Arial"/>
                          <a:hlinkClick r:id="" action="ppaction://noaction"/>
                        </a:rPr>
                        <a:t>[21]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Improves</a:t>
                      </a:r>
                      <a:r>
                        <a:rPr lang="en-US" sz="1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Bangla</a:t>
                      </a:r>
                      <a:r>
                        <a:rPr lang="en-US" sz="1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NLP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8580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tasks;</a:t>
                      </a:r>
                      <a:r>
                        <a:rPr lang="en-US" sz="1800" spc="170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promising</a:t>
                      </a:r>
                      <a:r>
                        <a:rPr lang="en-US" sz="1800" spc="38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for</a:t>
                      </a:r>
                      <a:r>
                        <a:rPr lang="en-US" sz="1800" spc="50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8580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500" dirty="0">
                        <a:latin typeface="Arial"/>
                        <a:cs typeface="Arial"/>
                      </a:endParaRPr>
                    </a:p>
                    <a:p>
                      <a:pPr marL="75565" marR="68580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25" dirty="0">
                          <a:latin typeface="Arial"/>
                          <a:cs typeface="Arial"/>
                        </a:rPr>
                        <a:t>fake-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news</a:t>
                      </a:r>
                      <a:r>
                        <a:rPr lang="en-US" sz="1800" spc="28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spc="-25" dirty="0" err="1">
                          <a:latin typeface="Arial"/>
                          <a:cs typeface="Arial"/>
                        </a:rPr>
                        <a:t>classifica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-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8580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8580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10" dirty="0" err="1">
                          <a:latin typeface="Arial"/>
                          <a:cs typeface="Arial"/>
                        </a:rPr>
                        <a:t>tion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lang="en-US" sz="1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directly</a:t>
                      </a:r>
                      <a:r>
                        <a:rPr lang="en-US" sz="1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tested</a:t>
                      </a:r>
                      <a:r>
                        <a:rPr lang="en-US" sz="1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for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-25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25" dirty="0">
                          <a:latin typeface="Arial"/>
                          <a:cs typeface="Arial"/>
                        </a:rPr>
                        <a:t>fake-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news;</a:t>
                      </a:r>
                      <a:r>
                        <a:rPr lang="en-US" sz="1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35" dirty="0">
                          <a:latin typeface="Arial"/>
                          <a:cs typeface="Arial"/>
                        </a:rPr>
                        <a:t>depends</a:t>
                      </a:r>
                      <a:r>
                        <a:rPr lang="en-US" sz="1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on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PLM</a:t>
                      </a:r>
                      <a:r>
                        <a:rPr lang="en-US" sz="1800" spc="14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availability.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418006"/>
                  </a:ext>
                </a:extLst>
              </a:tr>
              <a:tr h="1276529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nb-NO" sz="1800" spc="-25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nb-NO" sz="1800" spc="-25" dirty="0">
                          <a:latin typeface="Arial"/>
                          <a:cs typeface="Arial"/>
                        </a:rPr>
                        <a:t>BanFakeNews</a:t>
                      </a:r>
                      <a:r>
                        <a:rPr lang="nb-NO" sz="1800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nb-NO" sz="1800" spc="-10" dirty="0">
                          <a:latin typeface="Arial"/>
                          <a:cs typeface="Arial"/>
                        </a:rPr>
                        <a:t>dataset</a:t>
                      </a:r>
                      <a:endParaRPr lang="nb-NO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nb-NO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nb-NO" sz="18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nb-NO" sz="1800" dirty="0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lang="nb-NO" sz="1800" dirty="0">
                          <a:latin typeface="Arial"/>
                          <a:cs typeface="Arial"/>
                        </a:rPr>
                        <a:t>50K</a:t>
                      </a:r>
                      <a:r>
                        <a:rPr lang="nb-NO" sz="1800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nb-NO" sz="1800" dirty="0">
                          <a:latin typeface="Arial"/>
                          <a:cs typeface="Arial"/>
                        </a:rPr>
                        <a:t>Bangla</a:t>
                      </a:r>
                      <a:r>
                        <a:rPr lang="nb-NO" sz="1800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nb-NO" sz="1800" spc="-10" dirty="0">
                          <a:latin typeface="Arial"/>
                          <a:cs typeface="Arial"/>
                        </a:rPr>
                        <a:t>arti</a:t>
                      </a:r>
                      <a:r>
                        <a:rPr lang="nb-NO" sz="1800" dirty="0">
                          <a:latin typeface="Arial"/>
                          <a:cs typeface="Arial"/>
                        </a:rPr>
                        <a:t>cles)</a:t>
                      </a:r>
                      <a:r>
                        <a:rPr lang="nb-NO"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nb-NO" sz="1800" spc="-25" dirty="0">
                          <a:latin typeface="Arial"/>
                          <a:cs typeface="Arial"/>
                          <a:hlinkClick r:id="" action="ppaction://noaction"/>
                        </a:rPr>
                        <a:t>[4]</a:t>
                      </a:r>
                      <a:endParaRPr lang="nb-NO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Provides</a:t>
                      </a:r>
                      <a:r>
                        <a:rPr lang="en-US" sz="1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large</a:t>
                      </a:r>
                      <a:r>
                        <a:rPr lang="en-US" sz="1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Bangla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br>
                        <a:rPr lang="en-US" sz="1800" spc="-25" dirty="0">
                          <a:latin typeface="Arial"/>
                          <a:cs typeface="Arial"/>
                        </a:rPr>
                      </a:br>
                      <a:r>
                        <a:rPr lang="en-US" sz="1800" spc="-25" dirty="0">
                          <a:latin typeface="Arial"/>
                          <a:cs typeface="Arial"/>
                        </a:rPr>
                        <a:t>fake-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news</a:t>
                      </a:r>
                      <a:r>
                        <a:rPr lang="en-US" sz="1800" spc="30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dataset</a:t>
                      </a:r>
                      <a:r>
                        <a:rPr lang="en-US" sz="1800" spc="30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140" dirty="0">
                          <a:latin typeface="Arial"/>
                          <a:cs typeface="Arial"/>
                        </a:rPr>
                        <a:t>+ </a:t>
                      </a: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14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baselines.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Dataset</a:t>
                      </a:r>
                      <a:r>
                        <a:rPr lang="en-US" sz="1800" spc="47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imbalance;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older</a:t>
                      </a:r>
                      <a:r>
                        <a:rPr lang="en-US" sz="1800" spc="19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19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19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methods;</a:t>
                      </a:r>
                      <a:r>
                        <a:rPr lang="en-US" sz="18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no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prompt</a:t>
                      </a: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25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lang="en-US" sz="18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ap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proaches.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925124"/>
                  </a:ext>
                </a:extLst>
              </a:tr>
              <a:tr h="1441597"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dirty="0" err="1">
                          <a:latin typeface="Arial"/>
                          <a:cs typeface="Arial"/>
                        </a:rPr>
                        <a:t>mBERT</a:t>
                      </a:r>
                      <a:r>
                        <a:rPr lang="en-US" sz="1800" spc="39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lang="en-US" sz="1800" spc="39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feature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augmentation</a:t>
                      </a:r>
                      <a:r>
                        <a:rPr lang="en-US" sz="1800" spc="465" dirty="0">
                          <a:latin typeface="Arial"/>
                          <a:cs typeface="Arial"/>
                        </a:rPr>
                        <a:t>  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for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COVID</a:t>
                      </a:r>
                      <a:r>
                        <a:rPr lang="en-US" sz="1800" spc="445" dirty="0">
                          <a:latin typeface="Arial"/>
                          <a:cs typeface="Arial"/>
                        </a:rPr>
                        <a:t>  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fake-</a:t>
                      </a:r>
                      <a:r>
                        <a:rPr lang="en-US" sz="1800" spc="-55" dirty="0">
                          <a:latin typeface="Arial"/>
                          <a:cs typeface="Arial"/>
                        </a:rPr>
                        <a:t>news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detection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20" dirty="0">
                          <a:latin typeface="Arial"/>
                          <a:cs typeface="Arial"/>
                          <a:hlinkClick r:id="" action="ppaction://noaction"/>
                        </a:rPr>
                        <a:t>[22]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  <a:tabLst>
                          <a:tab pos="558800" algn="l"/>
                        </a:tabLst>
                      </a:pPr>
                      <a:endParaRPr lang="en-IN" sz="1800" spc="-1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  <a:tabLst>
                          <a:tab pos="558800" algn="l"/>
                        </a:tabLst>
                      </a:pPr>
                      <a:r>
                        <a:rPr lang="en-IN" sz="1800" spc="-10" dirty="0">
                          <a:latin typeface="Arial"/>
                          <a:cs typeface="Arial"/>
                        </a:rPr>
                        <a:t>Shows</a:t>
                      </a:r>
                      <a:r>
                        <a:rPr lang="en-IN" sz="1800" dirty="0">
                          <a:latin typeface="Arial"/>
                          <a:cs typeface="Arial"/>
                        </a:rPr>
                        <a:t>	</a:t>
                      </a:r>
                      <a:r>
                        <a:rPr lang="en-IN" sz="1800" spc="-10" dirty="0">
                          <a:latin typeface="Arial"/>
                          <a:cs typeface="Arial"/>
                        </a:rPr>
                        <a:t>multilingual</a:t>
                      </a:r>
                      <a:endParaRPr lang="en-IN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endParaRPr lang="en-IN" sz="1800" spc="-2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lang="en-IN" sz="1800" spc="-20" dirty="0">
                          <a:latin typeface="Arial"/>
                          <a:cs typeface="Arial"/>
                        </a:rPr>
                        <a:t>zero-</a:t>
                      </a:r>
                      <a:r>
                        <a:rPr lang="en-IN" sz="1800" dirty="0">
                          <a:latin typeface="Arial"/>
                          <a:cs typeface="Arial"/>
                        </a:rPr>
                        <a:t>shot</a:t>
                      </a:r>
                      <a:r>
                        <a:rPr lang="en-IN" sz="1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800" spc="-10" dirty="0">
                          <a:latin typeface="Arial"/>
                          <a:cs typeface="Arial"/>
                        </a:rPr>
                        <a:t>potential.</a:t>
                      </a:r>
                      <a:endParaRPr lang="en-IN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Limited</a:t>
                      </a:r>
                      <a:r>
                        <a:rPr lang="en-US" sz="1800" spc="300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lang="en-US" sz="1800" spc="30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COVID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tweets;</a:t>
                      </a:r>
                      <a:r>
                        <a:rPr lang="en-US" sz="1800" spc="17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lang="en-US" sz="1800" spc="4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prompt- </a:t>
                      </a: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based.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50790"/>
                  </a:ext>
                </a:extLst>
              </a:tr>
              <a:tr h="1536228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IN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IN" sz="1800" dirty="0">
                          <a:latin typeface="Arial"/>
                          <a:cs typeface="Arial"/>
                        </a:rPr>
                        <a:t>Deep</a:t>
                      </a:r>
                      <a:r>
                        <a:rPr lang="en-IN" sz="1800" spc="41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800" dirty="0">
                          <a:latin typeface="Arial"/>
                          <a:cs typeface="Arial"/>
                        </a:rPr>
                        <a:t>learning</a:t>
                      </a:r>
                      <a:r>
                        <a:rPr lang="en-IN" sz="1800" spc="4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800" spc="-20" dirty="0">
                          <a:latin typeface="Arial"/>
                          <a:cs typeface="Arial"/>
                        </a:rPr>
                        <a:t>mod-</a:t>
                      </a:r>
                      <a:endParaRPr lang="en-IN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489584" algn="l"/>
                          <a:tab pos="974090" algn="l"/>
                        </a:tabLst>
                      </a:pPr>
                      <a:endParaRPr lang="en-IN" sz="180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489584" algn="l"/>
                          <a:tab pos="974090" algn="l"/>
                        </a:tabLst>
                      </a:pPr>
                      <a:r>
                        <a:rPr lang="en-IN" sz="1800" dirty="0" err="1">
                          <a:latin typeface="Arial"/>
                          <a:cs typeface="Arial"/>
                        </a:rPr>
                        <a:t>els</a:t>
                      </a:r>
                      <a:r>
                        <a:rPr lang="en-IN" sz="1800" spc="49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8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en-IN" sz="1800" dirty="0" err="1">
                          <a:latin typeface="Arial"/>
                          <a:cs typeface="Arial"/>
                        </a:rPr>
                        <a:t>BiGRU</a:t>
                      </a:r>
                      <a:r>
                        <a:rPr lang="en-IN" sz="1800" dirty="0">
                          <a:latin typeface="Arial"/>
                          <a:cs typeface="Arial"/>
                        </a:rPr>
                        <a:t>,</a:t>
                      </a:r>
                      <a:r>
                        <a:rPr lang="en-IN" sz="1800" spc="13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IN" sz="1800" spc="-10" dirty="0">
                          <a:latin typeface="Arial"/>
                          <a:cs typeface="Arial"/>
                        </a:rPr>
                        <a:t>LSTM, </a:t>
                      </a: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489584" algn="l"/>
                          <a:tab pos="974090" algn="l"/>
                        </a:tabLst>
                      </a:pPr>
                      <a:endParaRPr lang="en-IN" sz="1800" spc="-10" dirty="0">
                        <a:latin typeface="Arial"/>
                        <a:cs typeface="Arial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  <a:tabLst>
                          <a:tab pos="489584" algn="l"/>
                          <a:tab pos="974090" algn="l"/>
                        </a:tabLst>
                      </a:pPr>
                      <a:r>
                        <a:rPr lang="en-IN" sz="1800" spc="-20" dirty="0">
                          <a:latin typeface="Arial"/>
                          <a:cs typeface="Arial"/>
                        </a:rPr>
                        <a:t>CNN,</a:t>
                      </a:r>
                      <a:r>
                        <a:rPr lang="en-IN" sz="1800" dirty="0">
                          <a:latin typeface="Arial"/>
                          <a:cs typeface="Arial"/>
                        </a:rPr>
                        <a:t>	</a:t>
                      </a:r>
                      <a:r>
                        <a:rPr lang="en-IN" sz="1800" spc="-10" dirty="0">
                          <a:latin typeface="Arial"/>
                          <a:cs typeface="Arial"/>
                        </a:rPr>
                        <a:t>BERT)</a:t>
                      </a:r>
                      <a:r>
                        <a:rPr lang="en-IN" sz="1800" dirty="0">
                          <a:latin typeface="Arial"/>
                          <a:cs typeface="Arial"/>
                        </a:rPr>
                        <a:t>	</a:t>
                      </a:r>
                      <a:r>
                        <a:rPr lang="en-IN" sz="1800" spc="-45" dirty="0">
                          <a:latin typeface="Arial"/>
                          <a:cs typeface="Arial"/>
                        </a:rPr>
                        <a:t>on</a:t>
                      </a:r>
                      <a:endParaRPr lang="en-IN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05"/>
                        </a:lnSpc>
                        <a:tabLst>
                          <a:tab pos="647700" algn="l"/>
                        </a:tabLst>
                      </a:pPr>
                      <a:endParaRPr lang="en-IN" sz="1800" spc="-1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05"/>
                        </a:lnSpc>
                        <a:tabLst>
                          <a:tab pos="647700" algn="l"/>
                        </a:tabLst>
                      </a:pPr>
                      <a:r>
                        <a:rPr lang="en-IN" sz="1800" spc="-10" dirty="0">
                          <a:latin typeface="Arial"/>
                          <a:cs typeface="Arial"/>
                        </a:rPr>
                        <a:t>Bangla</a:t>
                      </a:r>
                      <a:r>
                        <a:rPr lang="en-IN" sz="1800" dirty="0">
                          <a:latin typeface="Arial"/>
                          <a:cs typeface="Arial"/>
                        </a:rPr>
                        <a:t>	</a:t>
                      </a:r>
                      <a:r>
                        <a:rPr lang="en-IN" sz="1800" spc="-25" dirty="0">
                          <a:latin typeface="Arial"/>
                          <a:cs typeface="Arial"/>
                        </a:rPr>
                        <a:t>fake-</a:t>
                      </a:r>
                      <a:r>
                        <a:rPr lang="en-IN" sz="1800" spc="-20" dirty="0">
                          <a:latin typeface="Arial"/>
                          <a:cs typeface="Arial"/>
                        </a:rPr>
                        <a:t>news</a:t>
                      </a:r>
                      <a:endParaRPr lang="en-IN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endParaRPr lang="en-IN" sz="1800" spc="-2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lang="en-IN" sz="1800" spc="-20" dirty="0">
                          <a:latin typeface="Arial"/>
                          <a:cs typeface="Arial"/>
                        </a:rPr>
                        <a:t>datasets</a:t>
                      </a:r>
                      <a:r>
                        <a:rPr lang="en-IN" sz="1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800" spc="-25" dirty="0">
                          <a:latin typeface="Arial"/>
                          <a:cs typeface="Arial"/>
                          <a:hlinkClick r:id="" action="ppaction://noaction"/>
                        </a:rPr>
                        <a:t>[5]</a:t>
                      </a:r>
                      <a:endParaRPr lang="en-IN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High</a:t>
                      </a:r>
                      <a:r>
                        <a:rPr lang="en-US" sz="1800" spc="39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accuracy</a:t>
                      </a:r>
                      <a:r>
                        <a:rPr lang="en-US" sz="1800" spc="39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using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endParaRPr lang="en-US" sz="1800" spc="-25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endParaRPr lang="en-US" sz="1800" spc="-25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lang="en-US" sz="1800" spc="-25" dirty="0">
                          <a:latin typeface="Arial"/>
                          <a:cs typeface="Arial"/>
                        </a:rPr>
                        <a:t>supervised</a:t>
                      </a:r>
                      <a:r>
                        <a:rPr lang="en-US"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learning.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Requires</a:t>
                      </a:r>
                      <a:r>
                        <a:rPr lang="en-US" sz="1800" spc="15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full</a:t>
                      </a:r>
                      <a:r>
                        <a:rPr lang="en-US" sz="1800" spc="160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super-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vision;</a:t>
                      </a:r>
                      <a:r>
                        <a:rPr lang="en-US" sz="1800" spc="484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lang="en-US" sz="1800" spc="295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US" sz="1800" spc="-25" dirty="0">
                          <a:latin typeface="Arial"/>
                          <a:cs typeface="Arial"/>
                        </a:rPr>
                        <a:t>suited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for</a:t>
                      </a:r>
                      <a:r>
                        <a:rPr lang="en-US" sz="1800" spc="175" dirty="0">
                          <a:latin typeface="Arial"/>
                          <a:cs typeface="Arial"/>
                        </a:rPr>
                        <a:t>  </a:t>
                      </a: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175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few-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shot/prompt- </a:t>
                      </a:r>
                      <a:r>
                        <a:rPr lang="en-US" sz="1800" spc="-30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lang="en-US" sz="1800" spc="-10" dirty="0">
                          <a:latin typeface="Arial"/>
                          <a:cs typeface="Arial"/>
                        </a:rPr>
                        <a:t> </a:t>
                      </a: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endParaRPr lang="en-US" sz="1800" spc="-10" dirty="0">
                        <a:latin typeface="Arial"/>
                        <a:cs typeface="Arial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lang="en-US" sz="1800" spc="-10" dirty="0">
                          <a:latin typeface="Arial"/>
                          <a:cs typeface="Arial"/>
                        </a:rPr>
                        <a:t>tasks.</a:t>
                      </a:r>
                      <a:endParaRPr lang="en-US" sz="1800" dirty="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835"/>
                        </a:lnSpc>
                      </a:pP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64445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86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ED50-0C90-CADB-CEAC-50F42B1D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7C28-5150-F5CE-96BE-390085754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839" y="771525"/>
            <a:ext cx="9282322" cy="914400"/>
          </a:xfrm>
        </p:spPr>
        <p:txBody>
          <a:bodyPr>
            <a:normAutofit/>
          </a:bodyPr>
          <a:lstStyle/>
          <a:p>
            <a:r>
              <a:rPr lang="en-IN" b="1" u="sng" dirty="0"/>
              <a:t>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E378B-E435-EC94-EFE0-A0A548628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09750"/>
            <a:ext cx="10018713" cy="4408284"/>
          </a:xfrm>
        </p:spPr>
        <p:txBody>
          <a:bodyPr>
            <a:norm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pc="-40" dirty="0">
                <a:latin typeface="+mj-lt"/>
                <a:cs typeface="Arial"/>
              </a:rPr>
              <a:t>Bengali</a:t>
            </a:r>
            <a:r>
              <a:rPr lang="en-US" dirty="0">
                <a:latin typeface="+mj-lt"/>
                <a:cs typeface="Arial"/>
              </a:rPr>
              <a:t> </a:t>
            </a:r>
            <a:r>
              <a:rPr lang="en-US" spc="-50" dirty="0">
                <a:latin typeface="+mj-lt"/>
                <a:cs typeface="Arial"/>
              </a:rPr>
              <a:t>fake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100" dirty="0">
                <a:latin typeface="+mj-lt"/>
                <a:cs typeface="Arial"/>
              </a:rPr>
              <a:t>news</a:t>
            </a:r>
            <a:r>
              <a:rPr lang="en-US" spc="25" dirty="0">
                <a:latin typeface="+mj-lt"/>
                <a:cs typeface="Arial"/>
              </a:rPr>
              <a:t> </a:t>
            </a:r>
            <a:r>
              <a:rPr lang="en-US" spc="-30" dirty="0">
                <a:latin typeface="+mj-lt"/>
                <a:cs typeface="Arial"/>
              </a:rPr>
              <a:t>detection</a:t>
            </a:r>
            <a:r>
              <a:rPr lang="en-US" spc="15" dirty="0">
                <a:latin typeface="+mj-lt"/>
                <a:cs typeface="Arial"/>
              </a:rPr>
              <a:t> </a:t>
            </a:r>
            <a:r>
              <a:rPr lang="en-US" spc="-75" dirty="0">
                <a:latin typeface="+mj-lt"/>
                <a:cs typeface="Arial"/>
              </a:rPr>
              <a:t>faces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70" dirty="0">
                <a:latin typeface="+mj-lt"/>
                <a:cs typeface="Arial"/>
              </a:rPr>
              <a:t>challenges</a:t>
            </a:r>
            <a:r>
              <a:rPr lang="en-US" spc="15" dirty="0">
                <a:latin typeface="+mj-lt"/>
                <a:cs typeface="Arial"/>
              </a:rPr>
              <a:t> </a:t>
            </a:r>
            <a:r>
              <a:rPr lang="en-US" spc="-70" dirty="0">
                <a:latin typeface="+mj-lt"/>
                <a:cs typeface="Arial"/>
              </a:rPr>
              <a:t>due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dirty="0">
                <a:latin typeface="+mj-lt"/>
                <a:cs typeface="Arial"/>
              </a:rPr>
              <a:t>to</a:t>
            </a:r>
            <a:r>
              <a:rPr lang="en-US" spc="15" dirty="0">
                <a:latin typeface="+mj-lt"/>
                <a:cs typeface="Arial"/>
              </a:rPr>
              <a:t> </a:t>
            </a:r>
            <a:r>
              <a:rPr lang="en-US" spc="-10" dirty="0">
                <a:latin typeface="+mj-lt"/>
                <a:cs typeface="Arial"/>
              </a:rPr>
              <a:t>limited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35" dirty="0">
                <a:latin typeface="+mj-lt"/>
                <a:cs typeface="Arial"/>
              </a:rPr>
              <a:t>annotated</a:t>
            </a:r>
            <a:r>
              <a:rPr lang="en-US" spc="15" dirty="0">
                <a:latin typeface="+mj-lt"/>
                <a:cs typeface="Arial"/>
              </a:rPr>
              <a:t> </a:t>
            </a:r>
            <a:r>
              <a:rPr lang="en-US" spc="-20" dirty="0">
                <a:latin typeface="+mj-lt"/>
                <a:cs typeface="Arial"/>
              </a:rPr>
              <a:t>data </a:t>
            </a:r>
            <a:r>
              <a:rPr lang="en-US" spc="-45" dirty="0">
                <a:latin typeface="+mj-lt"/>
                <a:cs typeface="Arial"/>
              </a:rPr>
              <a:t>and</a:t>
            </a:r>
            <a:r>
              <a:rPr lang="en-US" spc="-15" dirty="0">
                <a:latin typeface="+mj-lt"/>
                <a:cs typeface="Arial"/>
              </a:rPr>
              <a:t> </a:t>
            </a:r>
            <a:r>
              <a:rPr lang="en-US" spc="-70" dirty="0">
                <a:latin typeface="+mj-lt"/>
                <a:cs typeface="Arial"/>
              </a:rPr>
              <a:t>weak</a:t>
            </a:r>
            <a:r>
              <a:rPr lang="en-US" spc="-5" dirty="0">
                <a:latin typeface="+mj-lt"/>
                <a:cs typeface="Arial"/>
              </a:rPr>
              <a:t> </a:t>
            </a:r>
            <a:r>
              <a:rPr lang="en-US" spc="-10" dirty="0">
                <a:latin typeface="+mj-lt"/>
                <a:cs typeface="Arial"/>
              </a:rPr>
              <a:t>traditional </a:t>
            </a:r>
            <a:r>
              <a:rPr lang="en-US" spc="-40" dirty="0">
                <a:latin typeface="+mj-lt"/>
                <a:cs typeface="Arial"/>
              </a:rPr>
              <a:t>models.</a:t>
            </a:r>
            <a:r>
              <a:rPr lang="en-US" spc="85" dirty="0">
                <a:latin typeface="+mj-lt"/>
                <a:cs typeface="Arial"/>
              </a:rPr>
              <a:t> </a:t>
            </a:r>
            <a:r>
              <a:rPr lang="en-US" spc="-45" dirty="0">
                <a:latin typeface="+mj-lt"/>
                <a:cs typeface="Arial"/>
              </a:rPr>
              <a:t>Experiments</a:t>
            </a:r>
            <a:r>
              <a:rPr lang="en-US" spc="-5" dirty="0">
                <a:latin typeface="+mj-lt"/>
                <a:cs typeface="Arial"/>
              </a:rPr>
              <a:t> </a:t>
            </a:r>
            <a:r>
              <a:rPr lang="en-US" spc="-45" dirty="0">
                <a:latin typeface="+mj-lt"/>
                <a:cs typeface="Arial"/>
              </a:rPr>
              <a:t>comparing</a:t>
            </a:r>
            <a:r>
              <a:rPr lang="en-US" spc="-10" dirty="0">
                <a:latin typeface="+mj-lt"/>
                <a:cs typeface="Arial"/>
              </a:rPr>
              <a:t> </a:t>
            </a:r>
            <a:r>
              <a:rPr lang="en-US" spc="-55" dirty="0">
                <a:latin typeface="+mj-lt"/>
                <a:cs typeface="Arial"/>
              </a:rPr>
              <a:t>machine</a:t>
            </a:r>
            <a:r>
              <a:rPr lang="en-US" spc="-10" dirty="0">
                <a:latin typeface="+mj-lt"/>
                <a:cs typeface="Arial"/>
              </a:rPr>
              <a:t> learning </a:t>
            </a:r>
            <a:r>
              <a:rPr lang="en-US" spc="-45" dirty="0">
                <a:latin typeface="+mj-lt"/>
                <a:cs typeface="Arial"/>
              </a:rPr>
              <a:t>and</a:t>
            </a:r>
            <a:r>
              <a:rPr lang="en-US" spc="40" dirty="0">
                <a:latin typeface="+mj-lt"/>
                <a:cs typeface="Arial"/>
              </a:rPr>
              <a:t> </a:t>
            </a:r>
            <a:r>
              <a:rPr lang="en-US" spc="-55" dirty="0">
                <a:latin typeface="+mj-lt"/>
                <a:cs typeface="Arial"/>
              </a:rPr>
              <a:t>transformer-</a:t>
            </a:r>
            <a:r>
              <a:rPr lang="en-US" spc="-50" dirty="0">
                <a:latin typeface="+mj-lt"/>
                <a:cs typeface="Arial"/>
              </a:rPr>
              <a:t>based</a:t>
            </a:r>
            <a:r>
              <a:rPr lang="en-US" spc="45" dirty="0">
                <a:latin typeface="+mj-lt"/>
                <a:cs typeface="Arial"/>
              </a:rPr>
              <a:t> </a:t>
            </a:r>
            <a:r>
              <a:rPr lang="en-US" spc="-45" dirty="0">
                <a:latin typeface="+mj-lt"/>
                <a:cs typeface="Arial"/>
              </a:rPr>
              <a:t>methods</a:t>
            </a:r>
            <a:r>
              <a:rPr lang="en-US" spc="45" dirty="0">
                <a:latin typeface="+mj-lt"/>
                <a:cs typeface="Arial"/>
              </a:rPr>
              <a:t> </a:t>
            </a:r>
            <a:r>
              <a:rPr lang="en-US" spc="-95" dirty="0">
                <a:latin typeface="+mj-lt"/>
                <a:cs typeface="Arial"/>
              </a:rPr>
              <a:t>showed</a:t>
            </a:r>
            <a:r>
              <a:rPr lang="en-US" spc="45" dirty="0">
                <a:latin typeface="+mj-lt"/>
                <a:cs typeface="Arial"/>
              </a:rPr>
              <a:t> </a:t>
            </a:r>
            <a:r>
              <a:rPr lang="en-US" dirty="0">
                <a:latin typeface="+mj-lt"/>
                <a:cs typeface="Arial"/>
              </a:rPr>
              <a:t>that</a:t>
            </a:r>
            <a:r>
              <a:rPr lang="en-US" spc="45" dirty="0">
                <a:latin typeface="+mj-lt"/>
                <a:cs typeface="Arial"/>
              </a:rPr>
              <a:t> </a:t>
            </a:r>
            <a:r>
              <a:rPr lang="en-US" dirty="0">
                <a:latin typeface="+mj-lt"/>
                <a:cs typeface="Arial"/>
              </a:rPr>
              <a:t>T5</a:t>
            </a:r>
            <a:r>
              <a:rPr lang="en-US" spc="45" dirty="0">
                <a:latin typeface="+mj-lt"/>
                <a:cs typeface="Arial"/>
              </a:rPr>
              <a:t> </a:t>
            </a:r>
            <a:r>
              <a:rPr lang="en-US" dirty="0">
                <a:latin typeface="+mj-lt"/>
                <a:cs typeface="Arial"/>
              </a:rPr>
              <a:t>with</a:t>
            </a:r>
            <a:r>
              <a:rPr lang="en-US" spc="45" dirty="0">
                <a:latin typeface="+mj-lt"/>
                <a:cs typeface="Arial"/>
              </a:rPr>
              <a:t> </a:t>
            </a:r>
            <a:r>
              <a:rPr lang="en-US" spc="-25" dirty="0">
                <a:latin typeface="+mj-lt"/>
                <a:cs typeface="Arial"/>
              </a:rPr>
              <a:t>chain-</a:t>
            </a:r>
            <a:r>
              <a:rPr lang="en-US" spc="-30" dirty="0">
                <a:latin typeface="+mj-lt"/>
                <a:cs typeface="Arial"/>
              </a:rPr>
              <a:t>of-</a:t>
            </a:r>
            <a:r>
              <a:rPr lang="en-US" spc="-10" dirty="0">
                <a:latin typeface="+mj-lt"/>
                <a:cs typeface="Arial"/>
              </a:rPr>
              <a:t>thought </a:t>
            </a:r>
            <a:r>
              <a:rPr lang="en-US" spc="-20" dirty="0">
                <a:latin typeface="+mj-lt"/>
                <a:cs typeface="Arial"/>
              </a:rPr>
              <a:t>prompting</a:t>
            </a:r>
            <a:r>
              <a:rPr lang="en-US" spc="-10" dirty="0">
                <a:latin typeface="+mj-lt"/>
                <a:cs typeface="Arial"/>
              </a:rPr>
              <a:t> </a:t>
            </a:r>
            <a:r>
              <a:rPr lang="en-US" spc="-65" dirty="0">
                <a:latin typeface="+mj-lt"/>
                <a:cs typeface="Arial"/>
              </a:rPr>
              <a:t>achieved</a:t>
            </a:r>
            <a:r>
              <a:rPr lang="en-US" spc="-5" dirty="0">
                <a:latin typeface="+mj-lt"/>
                <a:cs typeface="Arial"/>
              </a:rPr>
              <a:t> </a:t>
            </a:r>
            <a:r>
              <a:rPr lang="en-US" dirty="0">
                <a:latin typeface="+mj-lt"/>
                <a:cs typeface="Arial"/>
              </a:rPr>
              <a:t>the</a:t>
            </a:r>
            <a:r>
              <a:rPr lang="en-US" spc="-5" dirty="0">
                <a:latin typeface="+mj-lt"/>
                <a:cs typeface="Arial"/>
              </a:rPr>
              <a:t> </a:t>
            </a:r>
            <a:r>
              <a:rPr lang="en-US" spc="-40" dirty="0">
                <a:latin typeface="+mj-lt"/>
                <a:cs typeface="Arial"/>
              </a:rPr>
              <a:t>strongest</a:t>
            </a:r>
            <a:r>
              <a:rPr lang="en-US" spc="-5" dirty="0">
                <a:latin typeface="+mj-lt"/>
                <a:cs typeface="Arial"/>
              </a:rPr>
              <a:t> </a:t>
            </a:r>
            <a:r>
              <a:rPr lang="en-US" spc="-50" dirty="0">
                <a:latin typeface="+mj-lt"/>
                <a:cs typeface="Arial"/>
              </a:rPr>
              <a:t>performance,</a:t>
            </a:r>
            <a:r>
              <a:rPr lang="en-US" spc="-10" dirty="0">
                <a:latin typeface="+mj-lt"/>
                <a:cs typeface="Arial"/>
              </a:rPr>
              <a:t> </a:t>
            </a:r>
            <a:r>
              <a:rPr lang="en-US" spc="-50" dirty="0">
                <a:latin typeface="+mj-lt"/>
                <a:cs typeface="Arial"/>
              </a:rPr>
              <a:t>reaching</a:t>
            </a:r>
            <a:r>
              <a:rPr lang="en-US" spc="-5" dirty="0">
                <a:latin typeface="+mj-lt"/>
                <a:cs typeface="Arial"/>
              </a:rPr>
              <a:t> </a:t>
            </a:r>
            <a:r>
              <a:rPr lang="en-US" spc="-40" dirty="0">
                <a:latin typeface="+mj-lt"/>
                <a:cs typeface="Arial"/>
              </a:rPr>
              <a:t>92.5%</a:t>
            </a:r>
            <a:r>
              <a:rPr lang="en-US" spc="-5" dirty="0">
                <a:latin typeface="+mj-lt"/>
                <a:cs typeface="Arial"/>
              </a:rPr>
              <a:t> </a:t>
            </a:r>
            <a:r>
              <a:rPr lang="en-US" spc="-10" dirty="0">
                <a:latin typeface="+mj-lt"/>
                <a:cs typeface="Arial"/>
              </a:rPr>
              <a:t>accuracy. This</a:t>
            </a:r>
            <a:r>
              <a:rPr lang="en-US" spc="5" dirty="0">
                <a:latin typeface="+mj-lt"/>
                <a:cs typeface="Arial"/>
              </a:rPr>
              <a:t> </a:t>
            </a:r>
            <a:r>
              <a:rPr lang="en-US" spc="-55" dirty="0">
                <a:latin typeface="+mj-lt"/>
                <a:cs typeface="Arial"/>
              </a:rPr>
              <a:t>demonstrates</a:t>
            </a:r>
            <a:r>
              <a:rPr lang="en-US" spc="5" dirty="0">
                <a:latin typeface="+mj-lt"/>
                <a:cs typeface="Arial"/>
              </a:rPr>
              <a:t> </a:t>
            </a:r>
            <a:r>
              <a:rPr lang="en-US" dirty="0">
                <a:latin typeface="+mj-lt"/>
                <a:cs typeface="Arial"/>
              </a:rPr>
              <a:t>that</a:t>
            </a:r>
            <a:r>
              <a:rPr lang="en-US" spc="5" dirty="0">
                <a:latin typeface="+mj-lt"/>
                <a:cs typeface="Arial"/>
              </a:rPr>
              <a:t> </a:t>
            </a:r>
            <a:r>
              <a:rPr lang="en-US" spc="-55" dirty="0">
                <a:latin typeface="+mj-lt"/>
                <a:cs typeface="Arial"/>
              </a:rPr>
              <a:t>question-</a:t>
            </a:r>
            <a:r>
              <a:rPr lang="en-US" spc="-35" dirty="0">
                <a:latin typeface="+mj-lt"/>
                <a:cs typeface="Arial"/>
              </a:rPr>
              <a:t>prompted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10" dirty="0">
                <a:latin typeface="+mj-lt"/>
                <a:cs typeface="Arial"/>
              </a:rPr>
              <a:t>LLMs</a:t>
            </a:r>
            <a:r>
              <a:rPr lang="en-US" spc="5" dirty="0">
                <a:latin typeface="+mj-lt"/>
                <a:cs typeface="Arial"/>
              </a:rPr>
              <a:t> </a:t>
            </a:r>
            <a:r>
              <a:rPr lang="en-US" spc="-10" dirty="0">
                <a:latin typeface="+mj-lt"/>
                <a:cs typeface="Arial"/>
              </a:rPr>
              <a:t>offer</a:t>
            </a:r>
            <a:r>
              <a:rPr lang="en-US" spc="5" dirty="0">
                <a:latin typeface="+mj-lt"/>
                <a:cs typeface="Arial"/>
              </a:rPr>
              <a:t> </a:t>
            </a:r>
            <a:r>
              <a:rPr lang="en-US" spc="-20" dirty="0">
                <a:latin typeface="+mj-lt"/>
                <a:cs typeface="Arial"/>
              </a:rPr>
              <a:t>an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10" dirty="0">
                <a:latin typeface="+mj-lt"/>
                <a:cs typeface="Arial"/>
              </a:rPr>
              <a:t>efficient ,</a:t>
            </a:r>
            <a:r>
              <a:rPr lang="en-US" spc="-50" dirty="0">
                <a:latin typeface="+mj-lt"/>
                <a:cs typeface="Arial"/>
              </a:rPr>
              <a:t>low-</a:t>
            </a:r>
            <a:r>
              <a:rPr lang="en-US" spc="-55" dirty="0">
                <a:latin typeface="+mj-lt"/>
                <a:cs typeface="Arial"/>
              </a:rPr>
              <a:t>resource-</a:t>
            </a:r>
            <a:r>
              <a:rPr lang="en-US" spc="-30" dirty="0">
                <a:latin typeface="+mj-lt"/>
                <a:cs typeface="Arial"/>
              </a:rPr>
              <a:t>friendly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55" dirty="0">
                <a:latin typeface="+mj-lt"/>
                <a:cs typeface="Arial"/>
              </a:rPr>
              <a:t>approach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dirty="0">
                <a:latin typeface="+mj-lt"/>
                <a:cs typeface="Arial"/>
              </a:rPr>
              <a:t>for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30" dirty="0">
                <a:latin typeface="+mj-lt"/>
                <a:cs typeface="Arial"/>
              </a:rPr>
              <a:t>detecting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30" dirty="0">
                <a:latin typeface="+mj-lt"/>
                <a:cs typeface="Arial"/>
              </a:rPr>
              <a:t>misinformation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dirty="0">
                <a:latin typeface="+mj-lt"/>
                <a:cs typeface="Arial"/>
              </a:rPr>
              <a:t>in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35" dirty="0">
                <a:latin typeface="+mj-lt"/>
                <a:cs typeface="Arial"/>
              </a:rPr>
              <a:t>Bengali</a:t>
            </a:r>
            <a:r>
              <a:rPr lang="en-US" spc="10" dirty="0">
                <a:latin typeface="+mj-lt"/>
                <a:cs typeface="Arial"/>
              </a:rPr>
              <a:t> </a:t>
            </a:r>
            <a:r>
              <a:rPr lang="en-US" spc="-25" dirty="0">
                <a:latin typeface="+mj-lt"/>
                <a:cs typeface="Arial"/>
              </a:rPr>
              <a:t>and </a:t>
            </a:r>
            <a:r>
              <a:rPr lang="en-US" spc="-10" dirty="0">
                <a:latin typeface="+mj-lt"/>
                <a:cs typeface="Arial"/>
              </a:rPr>
              <a:t>other</a:t>
            </a:r>
            <a:r>
              <a:rPr lang="en-US" spc="-50" dirty="0">
                <a:latin typeface="+mj-lt"/>
                <a:cs typeface="Arial"/>
              </a:rPr>
              <a:t> </a:t>
            </a:r>
            <a:r>
              <a:rPr lang="en-US" spc="-10" dirty="0">
                <a:latin typeface="+mj-lt"/>
                <a:cs typeface="Arial"/>
              </a:rPr>
              <a:t>multilingual</a:t>
            </a:r>
            <a:r>
              <a:rPr lang="en-US" spc="-45" dirty="0">
                <a:latin typeface="+mj-lt"/>
                <a:cs typeface="Arial"/>
              </a:rPr>
              <a:t> </a:t>
            </a:r>
            <a:r>
              <a:rPr lang="en-US" spc="-10" dirty="0">
                <a:latin typeface="+mj-lt"/>
                <a:cs typeface="Arial"/>
              </a:rPr>
              <a:t>settings.</a:t>
            </a:r>
            <a:endParaRPr lang="en-US" dirty="0">
              <a:latin typeface="+mj-lt"/>
              <a:cs typeface="Arial"/>
            </a:endParaRPr>
          </a:p>
          <a:p>
            <a:endParaRPr lang="en-IN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5CE42-B362-1C61-99D3-03DAC33D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10" y="6361697"/>
            <a:ext cx="5843578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5AE4D-CBF0-F13F-3542-BF02511BC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368" y="0"/>
            <a:ext cx="842632" cy="8599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3455F-2B98-7575-6827-BC6376214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97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246D0-67A4-A653-8A0F-E54F1EAD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1BEE-C7A9-D892-3B12-EA4D5FF9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95300"/>
            <a:ext cx="9323600" cy="759741"/>
          </a:xfrm>
        </p:spPr>
        <p:txBody>
          <a:bodyPr>
            <a:normAutofit/>
          </a:bodyPr>
          <a:lstStyle/>
          <a:p>
            <a:r>
              <a:rPr lang="en-IN" b="1" u="sng" dirty="0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9CD4C-C5D6-D05B-4CF8-605908D18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55043"/>
            <a:ext cx="10018713" cy="4759996"/>
          </a:xfrm>
        </p:spPr>
        <p:txBody>
          <a:bodyPr/>
          <a:lstStyle/>
          <a:p>
            <a:r>
              <a:rPr lang="en-US" dirty="0"/>
              <a:t>First application of Chain-of-Thought prompting for Bengali fake news detection.</a:t>
            </a:r>
          </a:p>
          <a:p>
            <a:r>
              <a:rPr lang="en-US" dirty="0"/>
              <a:t>Low-resource, cost-efficient framework requiring no large datasets or heavy fine-tuning.</a:t>
            </a:r>
          </a:p>
          <a:p>
            <a:r>
              <a:rPr lang="en-US" dirty="0"/>
              <a:t>Comprehensive evaluation across traditional ML models, transformer models, and multiple prompting techniques.</a:t>
            </a:r>
          </a:p>
          <a:p>
            <a:r>
              <a:rPr lang="en-US" dirty="0"/>
              <a:t>State-of-the-art performance with 92.5% accuracy using T5 + </a:t>
            </a:r>
            <a:r>
              <a:rPr lang="en-US" dirty="0" err="1"/>
              <a:t>CoT</a:t>
            </a:r>
            <a:r>
              <a:rPr lang="en-US" dirty="0"/>
              <a:t> prompting.</a:t>
            </a:r>
          </a:p>
          <a:p>
            <a:r>
              <a:rPr lang="en-US" dirty="0"/>
              <a:t>Scalable design suitable for other low-resource Indian languages.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B0FA8-42DB-8722-A193-A2A235D0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1947" y="6419201"/>
            <a:ext cx="6400790" cy="191753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E66C1-1356-A1BE-D303-6681B4E79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40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ED4B-9C42-861D-2B09-572212BB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C40A-F5E3-2DEB-810F-11A2CBAF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09649"/>
            <a:ext cx="9323598" cy="828675"/>
          </a:xfrm>
        </p:spPr>
        <p:txBody>
          <a:bodyPr>
            <a:normAutofit/>
          </a:bodyPr>
          <a:lstStyle/>
          <a:p>
            <a:r>
              <a:rPr lang="en-US" b="1" u="sng" dirty="0"/>
              <a:t>M</a:t>
            </a:r>
            <a:r>
              <a:rPr lang="en-IN" b="1" u="sng" dirty="0" err="1"/>
              <a:t>ethodology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5FECC-E7AE-8C03-6E0C-A2756839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342" y="2083717"/>
            <a:ext cx="10018713" cy="3086101"/>
          </a:xfrm>
        </p:spPr>
        <p:txBody>
          <a:bodyPr/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2400" dirty="0">
                <a:latin typeface="Arial"/>
                <a:cs typeface="Arial"/>
              </a:rPr>
              <a:t>The</a:t>
            </a:r>
            <a:r>
              <a:rPr lang="en-US" sz="2400" spc="-5" dirty="0">
                <a:latin typeface="Arial"/>
                <a:cs typeface="Arial"/>
              </a:rPr>
              <a:t> </a:t>
            </a:r>
            <a:r>
              <a:rPr lang="en-US" sz="2400" spc="-25" dirty="0">
                <a:latin typeface="Arial"/>
                <a:cs typeface="Arial"/>
              </a:rPr>
              <a:t>study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spc="-85" dirty="0">
                <a:latin typeface="Arial"/>
                <a:cs typeface="Arial"/>
              </a:rPr>
              <a:t>used</a:t>
            </a:r>
            <a:r>
              <a:rPr lang="en-US" sz="2400" spc="1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a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spc="-25" dirty="0">
                <a:latin typeface="Arial"/>
                <a:cs typeface="Arial"/>
              </a:rPr>
              <a:t>hybrid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spc="-25" dirty="0">
                <a:latin typeface="Arial"/>
                <a:cs typeface="Arial"/>
              </a:rPr>
              <a:t>strategy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that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spc="-30" dirty="0">
                <a:latin typeface="Arial"/>
                <a:cs typeface="Arial"/>
              </a:rPr>
              <a:t>integrated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spc="-35" dirty="0">
                <a:latin typeface="Arial"/>
                <a:cs typeface="Arial"/>
              </a:rPr>
              <a:t>state-</a:t>
            </a:r>
            <a:r>
              <a:rPr lang="en-US" sz="2400" spc="-35" dirty="0" err="1">
                <a:latin typeface="Arial"/>
                <a:cs typeface="Arial"/>
              </a:rPr>
              <a:t>ofthe</a:t>
            </a:r>
            <a:r>
              <a:rPr lang="en-US" sz="2400" spc="-35" dirty="0">
                <a:latin typeface="Arial"/>
                <a:cs typeface="Arial"/>
              </a:rPr>
              <a:t>-</a:t>
            </a:r>
            <a:r>
              <a:rPr lang="en-US" sz="2400" spc="-25" dirty="0">
                <a:latin typeface="Arial"/>
                <a:cs typeface="Arial"/>
              </a:rPr>
              <a:t>art </a:t>
            </a:r>
            <a:r>
              <a:rPr lang="en-US" sz="2400" spc="-55" dirty="0">
                <a:latin typeface="Arial"/>
                <a:cs typeface="Arial"/>
              </a:rPr>
              <a:t>transformer-</a:t>
            </a:r>
            <a:r>
              <a:rPr lang="en-US" sz="2400" spc="-50" dirty="0">
                <a:latin typeface="Arial"/>
                <a:cs typeface="Arial"/>
              </a:rPr>
              <a:t>based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spc="-40" dirty="0">
                <a:latin typeface="Arial"/>
                <a:cs typeface="Arial"/>
              </a:rPr>
              <a:t>architectures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(e.g.,</a:t>
            </a:r>
            <a:r>
              <a:rPr lang="en-US" sz="2400" spc="1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T5,BERT)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with</a:t>
            </a:r>
            <a:r>
              <a:rPr lang="en-US" sz="2400" spc="10" dirty="0">
                <a:latin typeface="Arial"/>
                <a:cs typeface="Arial"/>
              </a:rPr>
              <a:t> </a:t>
            </a:r>
            <a:r>
              <a:rPr lang="en-US" sz="2400" spc="-30" dirty="0">
                <a:latin typeface="Arial"/>
                <a:cs typeface="Arial"/>
              </a:rPr>
              <a:t>conventional </a:t>
            </a:r>
            <a:r>
              <a:rPr lang="en-US" sz="2400" spc="-55" dirty="0">
                <a:latin typeface="Arial"/>
                <a:cs typeface="Arial"/>
              </a:rPr>
              <a:t>machine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spc="-45" dirty="0">
                <a:latin typeface="Arial"/>
                <a:cs typeface="Arial"/>
              </a:rPr>
              <a:t>learning</a:t>
            </a:r>
            <a:r>
              <a:rPr lang="en-US" sz="2400" spc="-15" dirty="0">
                <a:latin typeface="Arial"/>
                <a:cs typeface="Arial"/>
              </a:rPr>
              <a:t> </a:t>
            </a:r>
            <a:r>
              <a:rPr lang="en-US" sz="2400" spc="-55" dirty="0">
                <a:latin typeface="Arial"/>
                <a:cs typeface="Arial"/>
              </a:rPr>
              <a:t>classifiers</a:t>
            </a:r>
            <a:r>
              <a:rPr lang="en-US" sz="2400" spc="-1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(like</a:t>
            </a:r>
            <a:r>
              <a:rPr lang="en-US" sz="2400" spc="-1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SVM,</a:t>
            </a:r>
            <a:r>
              <a:rPr lang="en-US" sz="2400" spc="-15" dirty="0">
                <a:latin typeface="Arial"/>
                <a:cs typeface="Arial"/>
              </a:rPr>
              <a:t> </a:t>
            </a:r>
            <a:r>
              <a:rPr lang="en-US" sz="2400" spc="-25" dirty="0">
                <a:latin typeface="Arial"/>
                <a:cs typeface="Arial"/>
              </a:rPr>
              <a:t>Logistic</a:t>
            </a:r>
            <a:r>
              <a:rPr lang="en-US" sz="2400" spc="-15" dirty="0">
                <a:latin typeface="Arial"/>
                <a:cs typeface="Arial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Regression).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16CBB-D69C-8514-8ABD-E80AED46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0517" y="6295792"/>
            <a:ext cx="5729278" cy="365125"/>
          </a:xfrm>
        </p:spPr>
        <p:txBody>
          <a:bodyPr/>
          <a:lstStyle/>
          <a:p>
            <a:r>
              <a:rPr lang="en-US" sz="1100" b="1" dirty="0"/>
              <a:t>4</a:t>
            </a:r>
            <a:r>
              <a:rPr lang="en-US" sz="1100" b="1" baseline="30000" dirty="0"/>
              <a:t>th</a:t>
            </a:r>
            <a:r>
              <a:rPr lang="en-US" sz="1100" b="1" dirty="0"/>
              <a:t>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76C7C-C9E5-F424-E2B3-80C63A88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905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5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12409-3E8A-4D3D-BB70-FBF740C7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912" y="673102"/>
            <a:ext cx="8543925" cy="800099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b="1" u="sng" dirty="0"/>
              <a:t>Traditional</a:t>
            </a:r>
            <a:r>
              <a:rPr lang="en-IN" b="1" u="sng" spc="204" dirty="0"/>
              <a:t> </a:t>
            </a:r>
            <a:r>
              <a:rPr lang="en-IN" b="1" u="sng" dirty="0"/>
              <a:t>Machine</a:t>
            </a:r>
            <a:r>
              <a:rPr lang="en-IN" b="1" u="sng" spc="200" dirty="0"/>
              <a:t> </a:t>
            </a:r>
            <a:r>
              <a:rPr lang="en-IN" b="1" u="sng" dirty="0"/>
              <a:t>Learning</a:t>
            </a:r>
            <a:r>
              <a:rPr lang="en-IN" b="1" u="sng" spc="204" dirty="0"/>
              <a:t> </a:t>
            </a:r>
            <a:r>
              <a:rPr lang="en-IN" b="1" u="sng" spc="-10" dirty="0"/>
              <a:t>Models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736C4-6789-429E-919E-FD139A316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2101"/>
            <a:ext cx="10018713" cy="4657724"/>
          </a:xfrm>
        </p:spPr>
        <p:txBody>
          <a:bodyPr/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2400" b="1" spc="-10" dirty="0">
                <a:latin typeface="+mj-lt"/>
                <a:cs typeface="Gill Sans MT"/>
              </a:rPr>
              <a:t>Logistic</a:t>
            </a:r>
            <a:r>
              <a:rPr lang="en-US" sz="2400" b="1" dirty="0">
                <a:latin typeface="+mj-lt"/>
                <a:cs typeface="Gill Sans MT"/>
              </a:rPr>
              <a:t> </a:t>
            </a:r>
            <a:r>
              <a:rPr lang="en-US" sz="2400" b="1" spc="-20" dirty="0">
                <a:latin typeface="+mj-lt"/>
                <a:cs typeface="Gill Sans MT"/>
              </a:rPr>
              <a:t>Regression:</a:t>
            </a:r>
            <a:r>
              <a:rPr lang="en-US" sz="2400" b="1" spc="65" dirty="0">
                <a:latin typeface="+mj-lt"/>
                <a:cs typeface="Gill Sans MT"/>
              </a:rPr>
              <a:t> </a:t>
            </a:r>
            <a:r>
              <a:rPr lang="en-US" sz="2400" spc="-40" dirty="0">
                <a:latin typeface="+mj-lt"/>
                <a:cs typeface="Arial"/>
              </a:rPr>
              <a:t>Linear</a:t>
            </a:r>
            <a:r>
              <a:rPr lang="en-US" sz="2400" spc="-30" dirty="0">
                <a:latin typeface="+mj-lt"/>
                <a:cs typeface="Arial"/>
              </a:rPr>
              <a:t> </a:t>
            </a:r>
            <a:r>
              <a:rPr lang="en-US" sz="2400" spc="-35" dirty="0">
                <a:latin typeface="+mj-lt"/>
                <a:cs typeface="Arial"/>
              </a:rPr>
              <a:t>model</a:t>
            </a:r>
            <a:r>
              <a:rPr lang="en-US" sz="2400" spc="-2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for</a:t>
            </a:r>
            <a:r>
              <a:rPr lang="en-US" sz="2400" spc="-30" dirty="0">
                <a:latin typeface="+mj-lt"/>
                <a:cs typeface="Arial"/>
              </a:rPr>
              <a:t> binary</a:t>
            </a:r>
            <a:r>
              <a:rPr lang="en-US" sz="2400" spc="-25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classification, </a:t>
            </a:r>
            <a:r>
              <a:rPr lang="en-US" sz="2400" spc="-35" dirty="0">
                <a:latin typeface="+mj-lt"/>
                <a:cs typeface="Arial"/>
              </a:rPr>
              <a:t>interpretable</a:t>
            </a:r>
            <a:r>
              <a:rPr lang="en-US" sz="2400" spc="-5" dirty="0">
                <a:latin typeface="+mj-lt"/>
                <a:cs typeface="Arial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and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spc="-25" dirty="0">
                <a:latin typeface="+mj-lt"/>
                <a:cs typeface="Arial"/>
              </a:rPr>
              <a:t>efficient</a:t>
            </a:r>
            <a:r>
              <a:rPr lang="en-US" sz="2400" dirty="0">
                <a:latin typeface="+mj-lt"/>
                <a:cs typeface="Arial"/>
              </a:rPr>
              <a:t> but </a:t>
            </a:r>
            <a:r>
              <a:rPr lang="en-US" sz="2400" spc="-10" dirty="0">
                <a:latin typeface="+mj-lt"/>
                <a:cs typeface="Arial"/>
              </a:rPr>
              <a:t>limited</a:t>
            </a:r>
            <a:r>
              <a:rPr lang="en-US" sz="2400" dirty="0">
                <a:latin typeface="+mj-lt"/>
                <a:cs typeface="Arial"/>
              </a:rPr>
              <a:t> in </a:t>
            </a:r>
            <a:r>
              <a:rPr lang="en-US" sz="2400" spc="-25" dirty="0">
                <a:latin typeface="+mj-lt"/>
                <a:cs typeface="Arial"/>
              </a:rPr>
              <a:t>capturing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spc="-55" dirty="0">
                <a:latin typeface="+mj-lt"/>
                <a:cs typeface="Arial"/>
              </a:rPr>
              <a:t>non-</a:t>
            </a:r>
            <a:r>
              <a:rPr lang="en-US" sz="2400" spc="-30" dirty="0">
                <a:latin typeface="+mj-lt"/>
                <a:cs typeface="Arial"/>
              </a:rPr>
              <a:t>linear</a:t>
            </a:r>
            <a:r>
              <a:rPr lang="en-US" sz="2400" spc="-5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patterns.</a:t>
            </a:r>
            <a:endParaRPr lang="en-US" sz="2400" dirty="0">
              <a:latin typeface="+mj-lt"/>
              <a:cs typeface="Arial"/>
            </a:endParaRPr>
          </a:p>
          <a:p>
            <a:pPr marL="12700" marR="361315">
              <a:lnSpc>
                <a:spcPct val="102600"/>
              </a:lnSpc>
              <a:spcBef>
                <a:spcPts val="300"/>
              </a:spcBef>
            </a:pPr>
            <a:r>
              <a:rPr lang="en-US" sz="2400" b="1" spc="-25" dirty="0">
                <a:latin typeface="+mj-lt"/>
                <a:cs typeface="Gill Sans MT"/>
              </a:rPr>
              <a:t>Decision</a:t>
            </a:r>
            <a:r>
              <a:rPr lang="en-US" sz="2400" b="1" spc="10" dirty="0">
                <a:latin typeface="+mj-lt"/>
                <a:cs typeface="Gill Sans MT"/>
              </a:rPr>
              <a:t> </a:t>
            </a:r>
            <a:r>
              <a:rPr lang="en-US" sz="2400" b="1" spc="-30" dirty="0">
                <a:latin typeface="+mj-lt"/>
                <a:cs typeface="Gill Sans MT"/>
              </a:rPr>
              <a:t>Tree:</a:t>
            </a:r>
            <a:r>
              <a:rPr lang="en-US" sz="2400" b="1" spc="80" dirty="0">
                <a:latin typeface="+mj-lt"/>
                <a:cs typeface="Gill Sans MT"/>
              </a:rPr>
              <a:t> </a:t>
            </a:r>
            <a:r>
              <a:rPr lang="en-US" sz="2400" spc="-60" dirty="0">
                <a:latin typeface="+mj-lt"/>
                <a:cs typeface="Arial"/>
              </a:rPr>
              <a:t>Recursively</a:t>
            </a:r>
            <a:r>
              <a:rPr lang="en-US" sz="2400" spc="-10" dirty="0">
                <a:latin typeface="+mj-lt"/>
                <a:cs typeface="Arial"/>
              </a:rPr>
              <a:t> </a:t>
            </a:r>
            <a:r>
              <a:rPr lang="en-US" sz="2400" spc="-20" dirty="0">
                <a:latin typeface="+mj-lt"/>
                <a:cs typeface="Arial"/>
              </a:rPr>
              <a:t>splits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spc="-40" dirty="0">
                <a:latin typeface="+mj-lt"/>
                <a:cs typeface="Arial"/>
              </a:rPr>
              <a:t>features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into</a:t>
            </a:r>
            <a:r>
              <a:rPr lang="en-US" sz="2400" spc="-10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a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spc="-20" dirty="0">
                <a:latin typeface="+mj-lt"/>
                <a:cs typeface="Arial"/>
              </a:rPr>
              <a:t>tree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structure; </a:t>
            </a:r>
            <a:r>
              <a:rPr lang="en-US" sz="2400" spc="-45" dirty="0">
                <a:latin typeface="+mj-lt"/>
                <a:cs typeface="Arial"/>
              </a:rPr>
              <a:t>simple</a:t>
            </a:r>
            <a:r>
              <a:rPr lang="en-US" sz="2400" spc="1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but</a:t>
            </a:r>
            <a:r>
              <a:rPr lang="en-US" sz="2400" spc="15" dirty="0">
                <a:latin typeface="+mj-lt"/>
                <a:cs typeface="Arial"/>
              </a:rPr>
              <a:t> </a:t>
            </a:r>
            <a:r>
              <a:rPr lang="en-US" sz="2400" spc="-50" dirty="0">
                <a:latin typeface="+mj-lt"/>
                <a:cs typeface="Arial"/>
              </a:rPr>
              <a:t>prone</a:t>
            </a:r>
            <a:r>
              <a:rPr lang="en-US" sz="2400" spc="1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to</a:t>
            </a:r>
            <a:r>
              <a:rPr lang="en-US" sz="2400" spc="20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overfitting.</a:t>
            </a:r>
            <a:endParaRPr lang="en-US" sz="2400" dirty="0">
              <a:latin typeface="+mj-lt"/>
              <a:cs typeface="Arial"/>
            </a:endParaRPr>
          </a:p>
          <a:p>
            <a:pPr marL="12700" marR="73025">
              <a:lnSpc>
                <a:spcPct val="102600"/>
              </a:lnSpc>
              <a:spcBef>
                <a:spcPts val="300"/>
              </a:spcBef>
            </a:pPr>
            <a:r>
              <a:rPr lang="en-US" sz="2400" b="1" spc="-20" dirty="0">
                <a:latin typeface="+mj-lt"/>
                <a:cs typeface="Gill Sans MT"/>
              </a:rPr>
              <a:t>Random</a:t>
            </a:r>
            <a:r>
              <a:rPr lang="en-US" sz="2400" b="1" spc="45" dirty="0">
                <a:latin typeface="+mj-lt"/>
                <a:cs typeface="Gill Sans MT"/>
              </a:rPr>
              <a:t> </a:t>
            </a:r>
            <a:r>
              <a:rPr lang="en-US" sz="2400" b="1" spc="-20" dirty="0">
                <a:latin typeface="+mj-lt"/>
                <a:cs typeface="Gill Sans MT"/>
              </a:rPr>
              <a:t>Forest:</a:t>
            </a:r>
            <a:r>
              <a:rPr lang="en-US" sz="2400" b="1" spc="110" dirty="0">
                <a:latin typeface="+mj-lt"/>
                <a:cs typeface="Gill Sans MT"/>
              </a:rPr>
              <a:t> </a:t>
            </a:r>
            <a:r>
              <a:rPr lang="en-US" sz="2400" spc="-80" dirty="0">
                <a:latin typeface="+mj-lt"/>
                <a:cs typeface="Arial"/>
              </a:rPr>
              <a:t>Ensemble</a:t>
            </a:r>
            <a:r>
              <a:rPr lang="en-US" sz="2400" spc="1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of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spc="-55" dirty="0">
                <a:latin typeface="+mj-lt"/>
                <a:cs typeface="Arial"/>
              </a:rPr>
              <a:t>decision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spc="-50" dirty="0">
                <a:latin typeface="+mj-lt"/>
                <a:cs typeface="Arial"/>
              </a:rPr>
              <a:t>trees</a:t>
            </a:r>
            <a:r>
              <a:rPr lang="en-US" sz="2400" spc="1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that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spc="-70" dirty="0">
                <a:latin typeface="+mj-lt"/>
                <a:cs typeface="Arial"/>
              </a:rPr>
              <a:t>reduces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overfitting </a:t>
            </a:r>
            <a:r>
              <a:rPr lang="en-US" sz="2400" spc="-45" dirty="0">
                <a:latin typeface="+mj-lt"/>
                <a:cs typeface="Arial"/>
              </a:rPr>
              <a:t>and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spc="-55" dirty="0">
                <a:latin typeface="+mj-lt"/>
                <a:cs typeface="Arial"/>
              </a:rPr>
              <a:t>improves</a:t>
            </a:r>
            <a:r>
              <a:rPr lang="en-US" sz="2400" spc="5" dirty="0">
                <a:latin typeface="+mj-lt"/>
                <a:cs typeface="Arial"/>
              </a:rPr>
              <a:t> </a:t>
            </a:r>
            <a:r>
              <a:rPr lang="en-US" sz="2400" spc="-30" dirty="0">
                <a:latin typeface="+mj-lt"/>
                <a:cs typeface="Arial"/>
              </a:rPr>
              <a:t>prediction</a:t>
            </a:r>
            <a:r>
              <a:rPr lang="en-US" sz="2400" spc="5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stability.</a:t>
            </a:r>
            <a:endParaRPr lang="en-US" sz="2400" dirty="0">
              <a:latin typeface="+mj-lt"/>
              <a:cs typeface="Arial"/>
            </a:endParaRPr>
          </a:p>
          <a:p>
            <a:pPr marL="12700" marR="464820">
              <a:lnSpc>
                <a:spcPct val="102600"/>
              </a:lnSpc>
              <a:spcBef>
                <a:spcPts val="300"/>
              </a:spcBef>
            </a:pPr>
            <a:r>
              <a:rPr lang="en-US" sz="2400" b="1" spc="-35" dirty="0">
                <a:latin typeface="+mj-lt"/>
                <a:cs typeface="Gill Sans MT"/>
              </a:rPr>
              <a:t>Gradient</a:t>
            </a:r>
            <a:r>
              <a:rPr lang="en-US" sz="2400" b="1" spc="35" dirty="0">
                <a:latin typeface="+mj-lt"/>
                <a:cs typeface="Gill Sans MT"/>
              </a:rPr>
              <a:t> </a:t>
            </a:r>
            <a:r>
              <a:rPr lang="en-US" sz="2400" b="1" dirty="0">
                <a:latin typeface="+mj-lt"/>
                <a:cs typeface="Gill Sans MT"/>
              </a:rPr>
              <a:t>Boosting:</a:t>
            </a:r>
            <a:r>
              <a:rPr lang="en-US" sz="2400" b="1" spc="95" dirty="0">
                <a:latin typeface="+mj-lt"/>
                <a:cs typeface="Gill Sans MT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Sequentially</a:t>
            </a:r>
            <a:r>
              <a:rPr lang="en-US" sz="2400" spc="5" dirty="0">
                <a:latin typeface="+mj-lt"/>
                <a:cs typeface="Arial"/>
              </a:rPr>
              <a:t> </a:t>
            </a:r>
            <a:r>
              <a:rPr lang="en-US" sz="2400" spc="-35" dirty="0">
                <a:latin typeface="+mj-lt"/>
                <a:cs typeface="Arial"/>
              </a:rPr>
              <a:t>builds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spc="-70" dirty="0">
                <a:latin typeface="+mj-lt"/>
                <a:cs typeface="Arial"/>
              </a:rPr>
              <a:t>weak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spc="-50" dirty="0">
                <a:latin typeface="+mj-lt"/>
                <a:cs typeface="Arial"/>
              </a:rPr>
              <a:t>trees</a:t>
            </a:r>
            <a:r>
              <a:rPr lang="en-US" sz="2400" dirty="0">
                <a:latin typeface="+mj-lt"/>
                <a:cs typeface="Arial"/>
              </a:rPr>
              <a:t> to</a:t>
            </a:r>
            <a:r>
              <a:rPr lang="en-US" sz="2400" spc="5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correct </a:t>
            </a:r>
            <a:r>
              <a:rPr lang="en-US" sz="2400" spc="-55" dirty="0">
                <a:latin typeface="+mj-lt"/>
                <a:cs typeface="Arial"/>
              </a:rPr>
              <a:t>previous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spc="-40" dirty="0">
                <a:latin typeface="+mj-lt"/>
                <a:cs typeface="Arial"/>
              </a:rPr>
              <a:t>errors,</a:t>
            </a:r>
            <a:r>
              <a:rPr lang="en-US" sz="2400" spc="-10" dirty="0">
                <a:latin typeface="+mj-lt"/>
                <a:cs typeface="Arial"/>
              </a:rPr>
              <a:t> </a:t>
            </a:r>
            <a:r>
              <a:rPr lang="en-US" sz="2400" spc="-25" dirty="0">
                <a:latin typeface="+mj-lt"/>
                <a:cs typeface="Arial"/>
              </a:rPr>
              <a:t>capturing</a:t>
            </a:r>
            <a:r>
              <a:rPr lang="en-US" sz="2400" spc="-10" dirty="0">
                <a:latin typeface="+mj-lt"/>
                <a:cs typeface="Arial"/>
              </a:rPr>
              <a:t> </a:t>
            </a:r>
            <a:r>
              <a:rPr lang="en-US" sz="2400" spc="-50" dirty="0">
                <a:latin typeface="+mj-lt"/>
                <a:cs typeface="Arial"/>
              </a:rPr>
              <a:t>complex</a:t>
            </a:r>
            <a:r>
              <a:rPr lang="en-US" sz="2400" spc="-10" dirty="0">
                <a:latin typeface="+mj-lt"/>
                <a:cs typeface="Arial"/>
              </a:rPr>
              <a:t> </a:t>
            </a:r>
            <a:r>
              <a:rPr lang="en-US" sz="2400" spc="-25" dirty="0">
                <a:latin typeface="+mj-lt"/>
                <a:cs typeface="Arial"/>
              </a:rPr>
              <a:t>patterns</a:t>
            </a:r>
            <a:r>
              <a:rPr lang="en-US" sz="2400" spc="-10" dirty="0">
                <a:latin typeface="+mj-lt"/>
                <a:cs typeface="Arial"/>
              </a:rPr>
              <a:t> effectively.</a:t>
            </a:r>
            <a:endParaRPr lang="en-US" sz="2400" dirty="0">
              <a:latin typeface="+mj-lt"/>
              <a:cs typeface="Arial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DACCB-F800-4897-96BB-6D1DFAD84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34379" y="6397624"/>
            <a:ext cx="7084177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008F6-3AC2-4EB0-89D3-F3DD1C6D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274" y="-38100"/>
            <a:ext cx="1238251" cy="117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26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907B9-DD7A-4210-8042-6113782F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099" y="869953"/>
            <a:ext cx="8534401" cy="80010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b="1" u="sng" spc="-10" dirty="0"/>
              <a:t>Transformer-</a:t>
            </a:r>
            <a:r>
              <a:rPr lang="en-IN" b="1" u="sng" dirty="0"/>
              <a:t>Based</a:t>
            </a:r>
            <a:r>
              <a:rPr lang="en-IN" b="1" u="sng" spc="150" dirty="0"/>
              <a:t> </a:t>
            </a:r>
            <a:r>
              <a:rPr lang="en-IN" b="1" u="sng" spc="-10" dirty="0"/>
              <a:t>Architectures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22C44-95D5-4592-91D9-B042F4215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57375"/>
            <a:ext cx="10018713" cy="3952876"/>
          </a:xfrm>
        </p:spPr>
        <p:txBody>
          <a:bodyPr/>
          <a:lstStyle/>
          <a:p>
            <a:pPr marL="12700" marR="163195">
              <a:lnSpc>
                <a:spcPct val="102699"/>
              </a:lnSpc>
              <a:spcBef>
                <a:spcPts val="55"/>
              </a:spcBef>
            </a:pPr>
            <a:r>
              <a:rPr lang="en-US" sz="2400" b="1" dirty="0">
                <a:latin typeface="+mj-lt"/>
                <a:cs typeface="Gill Sans MT"/>
              </a:rPr>
              <a:t>BERT:</a:t>
            </a:r>
            <a:r>
              <a:rPr lang="en-US" sz="2400" b="1" spc="25" dirty="0">
                <a:latin typeface="+mj-lt"/>
                <a:cs typeface="Gill Sans MT"/>
              </a:rPr>
              <a:t> </a:t>
            </a:r>
            <a:r>
              <a:rPr lang="en-US" sz="2400" spc="-110" dirty="0">
                <a:latin typeface="+mj-lt"/>
                <a:cs typeface="Arial"/>
              </a:rPr>
              <a:t>Uses</a:t>
            </a:r>
            <a:r>
              <a:rPr lang="en-US" sz="2400" spc="35" dirty="0">
                <a:latin typeface="+mj-lt"/>
                <a:cs typeface="Arial"/>
              </a:rPr>
              <a:t> </a:t>
            </a:r>
            <a:r>
              <a:rPr lang="en-US" sz="2400" spc="-80" dirty="0">
                <a:latin typeface="+mj-lt"/>
                <a:cs typeface="Arial"/>
              </a:rPr>
              <a:t>masked</a:t>
            </a:r>
            <a:r>
              <a:rPr lang="en-US" sz="2400" spc="30" dirty="0">
                <a:latin typeface="+mj-lt"/>
                <a:cs typeface="Arial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word</a:t>
            </a:r>
            <a:r>
              <a:rPr lang="en-US" sz="2400" spc="30" dirty="0">
                <a:latin typeface="+mj-lt"/>
                <a:cs typeface="Arial"/>
              </a:rPr>
              <a:t> </a:t>
            </a:r>
            <a:r>
              <a:rPr lang="en-US" sz="2400" spc="-30" dirty="0">
                <a:latin typeface="+mj-lt"/>
                <a:cs typeface="Arial"/>
              </a:rPr>
              <a:t>prediction</a:t>
            </a:r>
            <a:r>
              <a:rPr lang="en-US" sz="2400" spc="30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to</a:t>
            </a:r>
            <a:r>
              <a:rPr lang="en-US" sz="2400" spc="30" dirty="0">
                <a:latin typeface="+mj-lt"/>
                <a:cs typeface="Arial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understand</a:t>
            </a:r>
            <a:r>
              <a:rPr lang="en-US" sz="2400" spc="30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context</a:t>
            </a:r>
            <a:r>
              <a:rPr lang="en-US" sz="2400" spc="35" dirty="0">
                <a:latin typeface="+mj-lt"/>
                <a:cs typeface="Arial"/>
              </a:rPr>
              <a:t> </a:t>
            </a:r>
            <a:r>
              <a:rPr lang="en-US" sz="2400" spc="-20" dirty="0">
                <a:latin typeface="+mj-lt"/>
                <a:cs typeface="Arial"/>
              </a:rPr>
              <a:t>from </a:t>
            </a:r>
            <a:r>
              <a:rPr lang="en-US" sz="2400" dirty="0">
                <a:latin typeface="+mj-lt"/>
                <a:cs typeface="Arial"/>
              </a:rPr>
              <a:t>both</a:t>
            </a:r>
            <a:r>
              <a:rPr lang="en-US" sz="2400" spc="-35" dirty="0">
                <a:latin typeface="+mj-lt"/>
                <a:cs typeface="Arial"/>
              </a:rPr>
              <a:t> </a:t>
            </a:r>
            <a:r>
              <a:rPr lang="en-US" sz="2400" spc="-80" dirty="0">
                <a:latin typeface="+mj-lt"/>
                <a:cs typeface="Arial"/>
              </a:rPr>
              <a:t>sides</a:t>
            </a:r>
            <a:r>
              <a:rPr lang="en-US" sz="2400" spc="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of</a:t>
            </a:r>
            <a:r>
              <a:rPr lang="en-US" sz="2400" spc="-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a</a:t>
            </a:r>
            <a:r>
              <a:rPr lang="en-US" sz="2400" spc="-5" dirty="0">
                <a:latin typeface="+mj-lt"/>
                <a:cs typeface="Arial"/>
              </a:rPr>
              <a:t> </a:t>
            </a:r>
            <a:r>
              <a:rPr lang="en-US" sz="2400" spc="-65" dirty="0">
                <a:latin typeface="+mj-lt"/>
                <a:cs typeface="Arial"/>
              </a:rPr>
              <a:t>sentence,</a:t>
            </a:r>
            <a:r>
              <a:rPr lang="en-US" sz="2400" spc="-5" dirty="0">
                <a:latin typeface="+mj-lt"/>
                <a:cs typeface="Arial"/>
              </a:rPr>
              <a:t> </a:t>
            </a:r>
            <a:r>
              <a:rPr lang="en-US" sz="2400" spc="-30" dirty="0">
                <a:latin typeface="+mj-lt"/>
                <a:cs typeface="Arial"/>
              </a:rPr>
              <a:t>aiding</a:t>
            </a:r>
            <a:r>
              <a:rPr lang="en-US" sz="2400" spc="-5" dirty="0">
                <a:latin typeface="+mj-lt"/>
                <a:cs typeface="Arial"/>
              </a:rPr>
              <a:t> </a:t>
            </a:r>
            <a:r>
              <a:rPr lang="en-US" sz="2400" spc="-35" dirty="0">
                <a:latin typeface="+mj-lt"/>
                <a:cs typeface="Arial"/>
              </a:rPr>
              <a:t>Bengali</a:t>
            </a:r>
            <a:r>
              <a:rPr lang="en-US" sz="2400" spc="-5" dirty="0">
                <a:latin typeface="+mj-lt"/>
                <a:cs typeface="Arial"/>
              </a:rPr>
              <a:t> </a:t>
            </a:r>
            <a:r>
              <a:rPr lang="en-US" sz="2400" spc="-40" dirty="0">
                <a:latin typeface="+mj-lt"/>
                <a:cs typeface="Arial"/>
              </a:rPr>
              <a:t>fake</a:t>
            </a:r>
            <a:r>
              <a:rPr lang="en-US" sz="2400" spc="-10" dirty="0">
                <a:latin typeface="+mj-lt"/>
                <a:cs typeface="Arial"/>
              </a:rPr>
              <a:t> </a:t>
            </a:r>
            <a:r>
              <a:rPr lang="en-US" sz="2400" spc="-85" dirty="0">
                <a:latin typeface="+mj-lt"/>
                <a:cs typeface="Arial"/>
              </a:rPr>
              <a:t>news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detection.</a:t>
            </a:r>
            <a:endParaRPr lang="en-US" sz="2400" dirty="0">
              <a:latin typeface="+mj-lt"/>
              <a:cs typeface="Arial"/>
            </a:endParaRPr>
          </a:p>
          <a:p>
            <a:pPr marL="12700" marR="41910">
              <a:lnSpc>
                <a:spcPct val="102600"/>
              </a:lnSpc>
              <a:spcBef>
                <a:spcPts val="300"/>
              </a:spcBef>
            </a:pPr>
            <a:r>
              <a:rPr lang="en-US" sz="2400" b="1" dirty="0" err="1">
                <a:latin typeface="+mj-lt"/>
                <a:cs typeface="Gill Sans MT"/>
              </a:rPr>
              <a:t>RoBERTa</a:t>
            </a:r>
            <a:r>
              <a:rPr lang="en-US" sz="2400" b="1" dirty="0">
                <a:latin typeface="+mj-lt"/>
                <a:cs typeface="Gill Sans MT"/>
              </a:rPr>
              <a:t>:</a:t>
            </a:r>
            <a:r>
              <a:rPr lang="en-US" sz="2400" b="1" spc="65" dirty="0">
                <a:latin typeface="+mj-lt"/>
                <a:cs typeface="Gill Sans MT"/>
              </a:rPr>
              <a:t> </a:t>
            </a:r>
            <a:r>
              <a:rPr lang="en-US" sz="2400" spc="-75" dirty="0">
                <a:latin typeface="+mj-lt"/>
                <a:cs typeface="Arial"/>
              </a:rPr>
              <a:t>Enhanced</a:t>
            </a:r>
            <a:r>
              <a:rPr lang="en-US" sz="2400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BERT </a:t>
            </a:r>
            <a:r>
              <a:rPr lang="en-US" sz="2400" spc="-25" dirty="0">
                <a:latin typeface="+mj-lt"/>
                <a:cs typeface="Arial"/>
              </a:rPr>
              <a:t>trained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on</a:t>
            </a:r>
            <a:r>
              <a:rPr lang="en-US" sz="2400" spc="-10" dirty="0">
                <a:latin typeface="+mj-lt"/>
                <a:cs typeface="Arial"/>
              </a:rPr>
              <a:t> </a:t>
            </a:r>
            <a:r>
              <a:rPr lang="en-US" sz="2400" spc="-55" dirty="0">
                <a:latin typeface="+mj-lt"/>
                <a:cs typeface="Arial"/>
              </a:rPr>
              <a:t>more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data </a:t>
            </a:r>
            <a:r>
              <a:rPr lang="en-US" sz="2400" dirty="0">
                <a:latin typeface="+mj-lt"/>
                <a:cs typeface="Arial"/>
              </a:rPr>
              <a:t>with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improved tuning,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spc="-35" dirty="0">
                <a:latin typeface="+mj-lt"/>
                <a:cs typeface="Arial"/>
              </a:rPr>
              <a:t>providing</a:t>
            </a:r>
            <a:r>
              <a:rPr lang="en-US" sz="2400" spc="15" dirty="0">
                <a:latin typeface="+mj-lt"/>
                <a:cs typeface="Arial"/>
              </a:rPr>
              <a:t> </a:t>
            </a:r>
            <a:r>
              <a:rPr lang="en-US" sz="2400" spc="-35" dirty="0">
                <a:latin typeface="+mj-lt"/>
                <a:cs typeface="Arial"/>
              </a:rPr>
              <a:t>stronger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text</a:t>
            </a:r>
            <a:r>
              <a:rPr lang="en-US" sz="2400" spc="15" dirty="0">
                <a:latin typeface="+mj-lt"/>
                <a:cs typeface="Arial"/>
              </a:rPr>
              <a:t> </a:t>
            </a:r>
            <a:r>
              <a:rPr lang="en-US" sz="2400" spc="-55" dirty="0">
                <a:latin typeface="+mj-lt"/>
                <a:cs typeface="Arial"/>
              </a:rPr>
              <a:t>representations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and</a:t>
            </a:r>
            <a:r>
              <a:rPr lang="en-US" sz="2400" spc="15" dirty="0">
                <a:latin typeface="+mj-lt"/>
                <a:cs typeface="Arial"/>
              </a:rPr>
              <a:t> </a:t>
            </a:r>
            <a:r>
              <a:rPr lang="en-US" sz="2400" spc="-35" dirty="0">
                <a:latin typeface="+mj-lt"/>
                <a:cs typeface="Arial"/>
              </a:rPr>
              <a:t>higher</a:t>
            </a:r>
            <a:r>
              <a:rPr lang="en-US" sz="2400" spc="10" dirty="0">
                <a:latin typeface="+mj-lt"/>
                <a:cs typeface="Arial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accuracy.</a:t>
            </a:r>
            <a:endParaRPr lang="en-US" sz="2400" dirty="0">
              <a:latin typeface="+mj-lt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lang="en-US" sz="2400" b="1" dirty="0">
                <a:latin typeface="+mj-lt"/>
                <a:cs typeface="Gill Sans MT"/>
              </a:rPr>
              <a:t>T5:</a:t>
            </a:r>
            <a:r>
              <a:rPr lang="en-US" sz="2400" b="1" spc="180" dirty="0">
                <a:latin typeface="+mj-lt"/>
                <a:cs typeface="Gill Sans MT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Text-to-</a:t>
            </a:r>
            <a:r>
              <a:rPr lang="en-US" sz="2400" dirty="0">
                <a:latin typeface="+mj-lt"/>
                <a:cs typeface="Arial"/>
              </a:rPr>
              <a:t>text</a:t>
            </a:r>
            <a:r>
              <a:rPr lang="en-US" sz="2400" spc="65" dirty="0">
                <a:latin typeface="+mj-lt"/>
                <a:cs typeface="Arial"/>
              </a:rPr>
              <a:t> </a:t>
            </a:r>
            <a:r>
              <a:rPr lang="en-US" sz="2400" spc="-35" dirty="0">
                <a:latin typeface="+mj-lt"/>
                <a:cs typeface="Arial"/>
              </a:rPr>
              <a:t>transformer</a:t>
            </a:r>
            <a:r>
              <a:rPr lang="en-US" sz="2400" spc="60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that</a:t>
            </a:r>
            <a:r>
              <a:rPr lang="en-US" sz="2400" spc="65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outputs</a:t>
            </a:r>
            <a:r>
              <a:rPr lang="en-US" sz="2400" spc="6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”real”</a:t>
            </a:r>
            <a:r>
              <a:rPr lang="en-US" sz="2400" spc="60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or</a:t>
            </a:r>
            <a:r>
              <a:rPr lang="en-US" sz="2400" spc="65" dirty="0">
                <a:latin typeface="+mj-lt"/>
                <a:cs typeface="Arial"/>
              </a:rPr>
              <a:t> </a:t>
            </a:r>
            <a:r>
              <a:rPr lang="en-US" sz="2400" dirty="0">
                <a:latin typeface="+mj-lt"/>
                <a:cs typeface="Arial"/>
              </a:rPr>
              <a:t>”fake”</a:t>
            </a:r>
            <a:r>
              <a:rPr lang="en-US" sz="2400" spc="65" dirty="0">
                <a:latin typeface="+mj-lt"/>
                <a:cs typeface="Arial"/>
              </a:rPr>
              <a:t> </a:t>
            </a:r>
            <a:r>
              <a:rPr lang="en-US" sz="2400" spc="-25" dirty="0">
                <a:latin typeface="+mj-lt"/>
                <a:cs typeface="Arial"/>
              </a:rPr>
              <a:t>effective </a:t>
            </a:r>
            <a:r>
              <a:rPr lang="en-US" sz="2400" dirty="0">
                <a:latin typeface="+mj-lt"/>
                <a:cs typeface="Arial"/>
              </a:rPr>
              <a:t>in</a:t>
            </a:r>
            <a:r>
              <a:rPr lang="en-US" sz="2400" spc="-20" dirty="0">
                <a:latin typeface="+mj-lt"/>
                <a:cs typeface="Arial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zero-</a:t>
            </a:r>
            <a:r>
              <a:rPr lang="en-US" sz="2400" spc="-25" dirty="0">
                <a:latin typeface="+mj-lt"/>
                <a:cs typeface="Arial"/>
              </a:rPr>
              <a:t>shot,</a:t>
            </a:r>
            <a:r>
              <a:rPr lang="en-US" sz="2400" spc="-20" dirty="0">
                <a:latin typeface="+mj-lt"/>
                <a:cs typeface="Arial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few-</a:t>
            </a:r>
            <a:r>
              <a:rPr lang="en-US" sz="2400" spc="-10" dirty="0">
                <a:latin typeface="+mj-lt"/>
                <a:cs typeface="Arial"/>
              </a:rPr>
              <a:t>shot,</a:t>
            </a:r>
            <a:r>
              <a:rPr lang="en-US" sz="2400" spc="-20" dirty="0">
                <a:latin typeface="+mj-lt"/>
                <a:cs typeface="Arial"/>
              </a:rPr>
              <a:t> </a:t>
            </a:r>
            <a:r>
              <a:rPr lang="en-US" sz="2400" spc="-45" dirty="0">
                <a:latin typeface="+mj-lt"/>
                <a:cs typeface="Arial"/>
              </a:rPr>
              <a:t>and</a:t>
            </a:r>
            <a:r>
              <a:rPr lang="en-US" sz="2400" spc="-15" dirty="0">
                <a:latin typeface="+mj-lt"/>
                <a:cs typeface="Arial"/>
              </a:rPr>
              <a:t> </a:t>
            </a:r>
            <a:r>
              <a:rPr lang="en-US" sz="2400" spc="-25" dirty="0">
                <a:latin typeface="+mj-lt"/>
                <a:cs typeface="Arial"/>
              </a:rPr>
              <a:t>chain-</a:t>
            </a:r>
            <a:r>
              <a:rPr lang="en-US" sz="2400" spc="-30" dirty="0">
                <a:latin typeface="+mj-lt"/>
                <a:cs typeface="Arial"/>
              </a:rPr>
              <a:t>of-</a:t>
            </a:r>
            <a:r>
              <a:rPr lang="en-US" sz="2400" spc="-10" dirty="0">
                <a:latin typeface="+mj-lt"/>
                <a:cs typeface="Arial"/>
              </a:rPr>
              <a:t>thought</a:t>
            </a:r>
            <a:r>
              <a:rPr lang="en-US" sz="2400" spc="-20" dirty="0">
                <a:latin typeface="+mj-lt"/>
                <a:cs typeface="Arial"/>
              </a:rPr>
              <a:t> </a:t>
            </a:r>
            <a:r>
              <a:rPr lang="en-US" sz="2400" spc="-10" dirty="0">
                <a:latin typeface="+mj-lt"/>
                <a:cs typeface="Arial"/>
              </a:rPr>
              <a:t>prompting.</a:t>
            </a:r>
            <a:endParaRPr lang="en-US" sz="2400" dirty="0">
              <a:latin typeface="+mj-lt"/>
              <a:cs typeface="Arial"/>
            </a:endParaRPr>
          </a:p>
          <a:p>
            <a:pPr marL="0" indent="0">
              <a:buNone/>
            </a:pPr>
            <a:endParaRPr lang="en-IN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064990-896E-4DFC-A65B-A7A35ECCF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8679" y="6416673"/>
            <a:ext cx="7084177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E6A5E-1A32-4026-8820-61E6D9FA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274" y="0"/>
            <a:ext cx="1238251" cy="104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59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3F83-24A3-46E8-989D-3D52D32C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95325"/>
            <a:ext cx="10018713" cy="1314450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b="1" u="sng" dirty="0"/>
              <a:t>Prompt</a:t>
            </a:r>
            <a:r>
              <a:rPr lang="en-IN" b="1" u="sng" spc="200" dirty="0"/>
              <a:t> </a:t>
            </a:r>
            <a:r>
              <a:rPr lang="en-IN" b="1" u="sng" spc="-10" dirty="0"/>
              <a:t>Techniques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0CA29-2E3D-4E4E-82F8-7917D82EF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300" y="1390651"/>
            <a:ext cx="8721723" cy="4400550"/>
          </a:xfrm>
        </p:spPr>
        <p:txBody>
          <a:bodyPr/>
          <a:lstStyle/>
          <a:p>
            <a:pPr marL="12700" marR="493395">
              <a:lnSpc>
                <a:spcPct val="125299"/>
              </a:lnSpc>
              <a:spcBef>
                <a:spcPts val="100"/>
              </a:spcBef>
            </a:pPr>
            <a:r>
              <a:rPr lang="en-US" sz="2400" spc="-50" dirty="0">
                <a:latin typeface="Arial"/>
                <a:cs typeface="Arial"/>
              </a:rPr>
              <a:t>Zero-</a:t>
            </a:r>
            <a:r>
              <a:rPr lang="en-US" sz="2400" spc="-20" dirty="0">
                <a:latin typeface="Arial"/>
                <a:cs typeface="Arial"/>
              </a:rPr>
              <a:t>shot</a:t>
            </a:r>
            <a:r>
              <a:rPr lang="en-US" sz="2400" spc="-10" dirty="0">
                <a:latin typeface="Arial"/>
                <a:cs typeface="Arial"/>
              </a:rPr>
              <a:t> </a:t>
            </a:r>
            <a:r>
              <a:rPr lang="en-US" sz="2400" spc="-20" dirty="0">
                <a:latin typeface="Arial"/>
                <a:cs typeface="Arial"/>
              </a:rPr>
              <a:t>prompting</a:t>
            </a:r>
            <a:r>
              <a:rPr lang="en-US" sz="2400" spc="-5" dirty="0">
                <a:latin typeface="Arial"/>
                <a:cs typeface="Arial"/>
              </a:rPr>
              <a:t> </a:t>
            </a:r>
            <a:r>
              <a:rPr lang="en-US" sz="2400" spc="-50" dirty="0">
                <a:latin typeface="Arial"/>
                <a:cs typeface="Arial"/>
              </a:rPr>
              <a:t>technique</a:t>
            </a:r>
          </a:p>
          <a:p>
            <a:pPr marL="12700" marR="493395">
              <a:lnSpc>
                <a:spcPct val="125299"/>
              </a:lnSpc>
              <a:spcBef>
                <a:spcPts val="100"/>
              </a:spcBef>
            </a:pPr>
            <a:r>
              <a:rPr lang="en-US" sz="2400" spc="-50" dirty="0">
                <a:latin typeface="Arial"/>
                <a:cs typeface="Arial"/>
              </a:rPr>
              <a:t> </a:t>
            </a:r>
            <a:r>
              <a:rPr lang="en-US" sz="2400" spc="-70" dirty="0">
                <a:latin typeface="Arial"/>
                <a:cs typeface="Arial"/>
              </a:rPr>
              <a:t>Few-</a:t>
            </a:r>
            <a:r>
              <a:rPr lang="en-US" sz="2400" spc="-25" dirty="0">
                <a:latin typeface="Arial"/>
                <a:cs typeface="Arial"/>
              </a:rPr>
              <a:t>shot</a:t>
            </a:r>
            <a:r>
              <a:rPr lang="en-US" sz="2400" spc="-15" dirty="0">
                <a:latin typeface="Arial"/>
                <a:cs typeface="Arial"/>
              </a:rPr>
              <a:t> </a:t>
            </a:r>
            <a:r>
              <a:rPr lang="en-US" sz="2400" spc="-20" dirty="0">
                <a:latin typeface="Arial"/>
                <a:cs typeface="Arial"/>
              </a:rPr>
              <a:t>prompting</a:t>
            </a:r>
            <a:r>
              <a:rPr lang="en-US" sz="2400" spc="-15" dirty="0">
                <a:latin typeface="Arial"/>
                <a:cs typeface="Arial"/>
              </a:rPr>
              <a:t> </a:t>
            </a:r>
            <a:r>
              <a:rPr lang="en-US" sz="2400" spc="-25" dirty="0">
                <a:latin typeface="Arial"/>
                <a:cs typeface="Arial"/>
              </a:rPr>
              <a:t>technique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lang="en-US" sz="2400" spc="-45" dirty="0">
                <a:latin typeface="Arial"/>
                <a:cs typeface="Arial"/>
              </a:rPr>
              <a:t>Chain-</a:t>
            </a:r>
            <a:r>
              <a:rPr lang="en-US" sz="2400" spc="-35" dirty="0">
                <a:latin typeface="Arial"/>
                <a:cs typeface="Arial"/>
              </a:rPr>
              <a:t>of-</a:t>
            </a:r>
            <a:r>
              <a:rPr lang="en-US" sz="2400" spc="-30" dirty="0">
                <a:latin typeface="Arial"/>
                <a:cs typeface="Arial"/>
              </a:rPr>
              <a:t>thoughts</a:t>
            </a:r>
            <a:r>
              <a:rPr lang="en-US" sz="2400" spc="15" dirty="0">
                <a:latin typeface="Arial"/>
                <a:cs typeface="Arial"/>
              </a:rPr>
              <a:t> </a:t>
            </a:r>
            <a:r>
              <a:rPr lang="en-US" sz="2400" spc="-20" dirty="0">
                <a:latin typeface="Arial"/>
                <a:cs typeface="Arial"/>
              </a:rPr>
              <a:t>prompting</a:t>
            </a:r>
            <a:r>
              <a:rPr lang="en-US" sz="2400" spc="20" dirty="0">
                <a:latin typeface="Arial"/>
                <a:cs typeface="Arial"/>
              </a:rPr>
              <a:t> </a:t>
            </a:r>
            <a:r>
              <a:rPr lang="en-US" sz="2400" spc="-35" dirty="0">
                <a:latin typeface="Arial"/>
                <a:cs typeface="Arial"/>
              </a:rPr>
              <a:t>technique</a:t>
            </a:r>
            <a:endParaRPr lang="en-US" sz="2400" dirty="0">
              <a:latin typeface="Arial"/>
              <a:cs typeface="Arial"/>
            </a:endParaRP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E8E05-B77B-4F94-963A-221DE874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63004" y="6162675"/>
            <a:ext cx="7084177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A4A13-199C-42F1-BCD8-DBFC1365E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9208" y="0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83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D3CD-7249-4144-9AC3-43EAE8E2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33375"/>
            <a:ext cx="9488489" cy="142875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u="sng" dirty="0">
                <a:latin typeface="Corbel headings"/>
                <a:cs typeface="Gill Sans MT"/>
              </a:rPr>
              <a:t>Prompt</a:t>
            </a:r>
            <a:r>
              <a:rPr lang="en-IN" sz="4000" b="1" u="sng" spc="200" dirty="0">
                <a:latin typeface="Gill Sans MT"/>
                <a:cs typeface="Gill Sans MT"/>
              </a:rPr>
              <a:t> </a:t>
            </a:r>
            <a:r>
              <a:rPr lang="en-IN" sz="4000" b="1" u="sng" spc="-10" dirty="0">
                <a:latin typeface="Corbel headings"/>
                <a:cs typeface="Gill Sans MT"/>
              </a:rPr>
              <a:t>Engineering</a:t>
            </a:r>
            <a:endParaRPr lang="en-IN" b="1" u="sng" dirty="0">
              <a:latin typeface="Corbel heading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95A0B-29D2-41FE-9628-FD0407260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76775" y="6323012"/>
            <a:ext cx="5057774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AC0AB2F-2E25-4F14-B310-54F8DD64BAB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333750" y="1717556"/>
            <a:ext cx="6400799" cy="3276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C9B7AF-F643-45F4-8853-E6ACE70AD07A}"/>
              </a:ext>
            </a:extLst>
          </p:cNvPr>
          <p:cNvSpPr txBox="1"/>
          <p:nvPr/>
        </p:nvSpPr>
        <p:spPr>
          <a:xfrm>
            <a:off x="3429000" y="5463936"/>
            <a:ext cx="6305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spc="-30" dirty="0">
                <a:solidFill>
                  <a:srgbClr val="3333B2"/>
                </a:solidFill>
                <a:latin typeface="Arial"/>
                <a:cs typeface="Arial"/>
              </a:rPr>
              <a:t>Figure:</a:t>
            </a:r>
            <a:r>
              <a:rPr lang="en-US" sz="2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lang="en-US" sz="2000" spc="-40" dirty="0">
                <a:latin typeface="Arial"/>
                <a:cs typeface="Arial"/>
              </a:rPr>
              <a:t>Schematic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spc="-30" dirty="0">
                <a:latin typeface="Arial"/>
                <a:cs typeface="Arial"/>
              </a:rPr>
              <a:t>diagram</a:t>
            </a:r>
            <a:r>
              <a:rPr lang="en-US" sz="2000" dirty="0">
                <a:latin typeface="Arial"/>
                <a:cs typeface="Arial"/>
              </a:rPr>
              <a:t> of</a:t>
            </a:r>
            <a:r>
              <a:rPr lang="en-US" sz="2000" spc="-5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prompt</a:t>
            </a:r>
            <a:r>
              <a:rPr lang="en-US" sz="2000" spc="5" dirty="0">
                <a:latin typeface="Arial"/>
                <a:cs typeface="Arial"/>
              </a:rPr>
              <a:t> </a:t>
            </a:r>
            <a:r>
              <a:rPr lang="en-US" sz="2000" spc="-35" dirty="0">
                <a:latin typeface="Arial"/>
                <a:cs typeface="Arial"/>
              </a:rPr>
              <a:t>engineering</a:t>
            </a:r>
            <a:endParaRPr lang="en-US" sz="2000" dirty="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6679-E6F2-4352-B1E4-7EB62433C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208" y="0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6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BB11-DF39-4A43-8917-EC063B8A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550" y="85726"/>
            <a:ext cx="6610350" cy="86677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b="1" u="sng" dirty="0"/>
              <a:t>Experimental</a:t>
            </a:r>
            <a:r>
              <a:rPr lang="en-IN" b="1" u="sng" spc="195" dirty="0"/>
              <a:t> </a:t>
            </a:r>
            <a:r>
              <a:rPr lang="en-IN" b="1" u="sng" spc="-10" dirty="0"/>
              <a:t>Setup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38677-ECBA-4C99-8309-B3D9604C2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00175"/>
            <a:ext cx="10018713" cy="4953000"/>
          </a:xfrm>
        </p:spPr>
        <p:txBody>
          <a:bodyPr/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IN" sz="2400" spc="-40" dirty="0">
                <a:latin typeface="Arial"/>
                <a:cs typeface="Arial"/>
              </a:rPr>
              <a:t>Models</a:t>
            </a:r>
            <a:r>
              <a:rPr lang="en-IN" sz="2400" spc="-25" dirty="0">
                <a:latin typeface="Arial"/>
                <a:cs typeface="Arial"/>
              </a:rPr>
              <a:t> trained</a:t>
            </a:r>
            <a:r>
              <a:rPr lang="en-IN" sz="2400" spc="-20" dirty="0">
                <a:latin typeface="Arial"/>
                <a:cs typeface="Arial"/>
              </a:rPr>
              <a:t> </a:t>
            </a:r>
            <a:r>
              <a:rPr lang="en-IN" sz="2400" spc="-40" dirty="0">
                <a:latin typeface="Arial"/>
                <a:cs typeface="Arial"/>
              </a:rPr>
              <a:t>using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b="1" spc="-35" dirty="0" err="1">
                <a:latin typeface="Gill Sans MT"/>
                <a:cs typeface="Gill Sans MT"/>
              </a:rPr>
              <a:t>PyTorch</a:t>
            </a:r>
            <a:r>
              <a:rPr lang="en-IN" sz="2400" b="1" spc="-20" dirty="0">
                <a:latin typeface="Gill Sans MT"/>
                <a:cs typeface="Gill Sans MT"/>
              </a:rPr>
              <a:t> </a:t>
            </a:r>
            <a:r>
              <a:rPr lang="en-IN" sz="2400" spc="-45" dirty="0">
                <a:latin typeface="Arial"/>
                <a:cs typeface="Arial"/>
              </a:rPr>
              <a:t>and</a:t>
            </a:r>
            <a:r>
              <a:rPr lang="en-IN" sz="2400" spc="-25" dirty="0">
                <a:latin typeface="Arial"/>
                <a:cs typeface="Arial"/>
              </a:rPr>
              <a:t> </a:t>
            </a:r>
            <a:r>
              <a:rPr lang="en-IN" sz="2400" b="1" dirty="0">
                <a:latin typeface="Gill Sans MT"/>
                <a:cs typeface="Gill Sans MT"/>
              </a:rPr>
              <a:t>Hugging</a:t>
            </a:r>
            <a:r>
              <a:rPr lang="en-IN" sz="2400" b="1" spc="10" dirty="0">
                <a:latin typeface="Gill Sans MT"/>
                <a:cs typeface="Gill Sans MT"/>
              </a:rPr>
              <a:t> </a:t>
            </a:r>
            <a:r>
              <a:rPr lang="en-IN" sz="2400" b="1" dirty="0">
                <a:latin typeface="Gill Sans MT"/>
                <a:cs typeface="Gill Sans MT"/>
              </a:rPr>
              <a:t>Face</a:t>
            </a:r>
            <a:r>
              <a:rPr lang="en-IN" sz="2400" b="1" spc="5" dirty="0">
                <a:latin typeface="Gill Sans MT"/>
                <a:cs typeface="Gill Sans MT"/>
              </a:rPr>
              <a:t> </a:t>
            </a:r>
            <a:r>
              <a:rPr lang="en-IN" sz="2400" b="1" spc="-50" dirty="0">
                <a:latin typeface="Gill Sans MT"/>
                <a:cs typeface="Gill Sans MT"/>
              </a:rPr>
              <a:t>Transformers</a:t>
            </a:r>
            <a:r>
              <a:rPr lang="en-IN" sz="2400" b="1" spc="-20" dirty="0">
                <a:latin typeface="Gill Sans MT"/>
                <a:cs typeface="Gill Sans MT"/>
              </a:rPr>
              <a:t> </a:t>
            </a:r>
            <a:r>
              <a:rPr lang="en-IN" sz="2400" spc="-25" dirty="0">
                <a:latin typeface="Arial"/>
                <a:cs typeface="Arial"/>
              </a:rPr>
              <a:t>on </a:t>
            </a:r>
            <a:r>
              <a:rPr lang="en-IN" sz="2400" dirty="0">
                <a:latin typeface="Arial"/>
                <a:cs typeface="Arial"/>
              </a:rPr>
              <a:t>NVIDIA</a:t>
            </a:r>
            <a:r>
              <a:rPr lang="en-IN" sz="2400" spc="-25" dirty="0">
                <a:latin typeface="Arial"/>
                <a:cs typeface="Arial"/>
              </a:rPr>
              <a:t> </a:t>
            </a:r>
            <a:r>
              <a:rPr lang="en-IN" sz="2400" spc="-50" dirty="0">
                <a:latin typeface="Arial"/>
                <a:cs typeface="Arial"/>
              </a:rPr>
              <a:t>GPU</a:t>
            </a:r>
            <a:r>
              <a:rPr lang="en-IN" sz="2400" spc="-20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(12</a:t>
            </a:r>
            <a:r>
              <a:rPr lang="en-IN" sz="2400" spc="-20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GB)</a:t>
            </a:r>
            <a:r>
              <a:rPr lang="en-IN" sz="2400" spc="-20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with</a:t>
            </a:r>
            <a:r>
              <a:rPr lang="en-IN" sz="2400" spc="-25" dirty="0">
                <a:latin typeface="Arial"/>
                <a:cs typeface="Arial"/>
              </a:rPr>
              <a:t> </a:t>
            </a:r>
            <a:r>
              <a:rPr lang="en-IN" sz="2400" spc="-10" dirty="0">
                <a:latin typeface="Arial"/>
                <a:cs typeface="Arial"/>
              </a:rPr>
              <a:t>32</a:t>
            </a:r>
            <a:r>
              <a:rPr lang="en-IN" sz="2400" spc="-20" dirty="0">
                <a:latin typeface="Arial"/>
                <a:cs typeface="Arial"/>
              </a:rPr>
              <a:t> GB RAM.</a:t>
            </a:r>
            <a:endParaRPr lang="en-IN" sz="2400" dirty="0">
              <a:latin typeface="Arial"/>
              <a:cs typeface="Arial"/>
            </a:endParaRPr>
          </a:p>
          <a:p>
            <a:pPr marL="12700" marR="165735">
              <a:lnSpc>
                <a:spcPct val="102600"/>
              </a:lnSpc>
              <a:spcBef>
                <a:spcPts val="300"/>
              </a:spcBef>
            </a:pPr>
            <a:r>
              <a:rPr lang="en-IN" sz="2400" b="1" spc="-60" dirty="0" err="1">
                <a:latin typeface="Gill Sans MT"/>
                <a:cs typeface="Gill Sans MT"/>
              </a:rPr>
              <a:t>AdamW</a:t>
            </a:r>
            <a:r>
              <a:rPr lang="en-IN" sz="2400" b="1" spc="30" dirty="0">
                <a:latin typeface="Gill Sans MT"/>
                <a:cs typeface="Gill Sans MT"/>
              </a:rPr>
              <a:t> </a:t>
            </a:r>
            <a:r>
              <a:rPr lang="en-IN" sz="2400" b="1" spc="-45" dirty="0">
                <a:latin typeface="Gill Sans MT"/>
                <a:cs typeface="Gill Sans MT"/>
              </a:rPr>
              <a:t>optimizer</a:t>
            </a:r>
            <a:r>
              <a:rPr lang="en-IN" sz="2400" b="1" spc="5" dirty="0">
                <a:latin typeface="Gill Sans MT"/>
                <a:cs typeface="Gill Sans MT"/>
              </a:rPr>
              <a:t> </a:t>
            </a:r>
            <a:r>
              <a:rPr lang="en-IN" sz="2400" dirty="0">
                <a:latin typeface="Arial"/>
                <a:cs typeface="Arial"/>
              </a:rPr>
              <a:t>with </a:t>
            </a:r>
            <a:r>
              <a:rPr lang="en-IN" sz="2400" spc="-45" dirty="0">
                <a:latin typeface="Arial"/>
                <a:cs typeface="Arial"/>
              </a:rPr>
              <a:t>learning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10" dirty="0">
                <a:latin typeface="Arial"/>
                <a:cs typeface="Arial"/>
              </a:rPr>
              <a:t>rate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70" dirty="0">
                <a:latin typeface="Arial"/>
                <a:cs typeface="Arial"/>
              </a:rPr>
              <a:t>2e-</a:t>
            </a:r>
            <a:r>
              <a:rPr lang="en-IN" sz="2400" dirty="0">
                <a:latin typeface="Arial"/>
                <a:cs typeface="Arial"/>
              </a:rPr>
              <a:t>5 to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70" dirty="0">
                <a:latin typeface="Arial"/>
                <a:cs typeface="Arial"/>
              </a:rPr>
              <a:t>5e-</a:t>
            </a:r>
            <a:r>
              <a:rPr lang="en-IN" sz="2400" dirty="0">
                <a:latin typeface="Arial"/>
                <a:cs typeface="Arial"/>
              </a:rPr>
              <a:t>5 </a:t>
            </a:r>
            <a:r>
              <a:rPr lang="en-IN" sz="2400" spc="-45" dirty="0">
                <a:latin typeface="Arial"/>
                <a:cs typeface="Arial"/>
              </a:rPr>
              <a:t>and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10" dirty="0">
                <a:latin typeface="Arial"/>
                <a:cs typeface="Arial"/>
              </a:rPr>
              <a:t>batch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30" dirty="0">
                <a:latin typeface="Arial"/>
                <a:cs typeface="Arial"/>
              </a:rPr>
              <a:t>size </a:t>
            </a:r>
            <a:r>
              <a:rPr lang="en-IN" sz="2400" spc="-10" dirty="0">
                <a:latin typeface="Arial"/>
                <a:cs typeface="Arial"/>
              </a:rPr>
              <a:t>8–16.</a:t>
            </a:r>
            <a:endParaRPr lang="en-IN" sz="2400" dirty="0">
              <a:latin typeface="Arial"/>
              <a:cs typeface="Arial"/>
            </a:endParaRPr>
          </a:p>
          <a:p>
            <a:pPr marL="12700" marR="133985">
              <a:lnSpc>
                <a:spcPct val="102600"/>
              </a:lnSpc>
              <a:spcBef>
                <a:spcPts val="300"/>
              </a:spcBef>
            </a:pPr>
            <a:r>
              <a:rPr lang="en-IN" sz="2400" spc="-40" dirty="0">
                <a:latin typeface="Arial"/>
                <a:cs typeface="Arial"/>
              </a:rPr>
              <a:t>Trained</a:t>
            </a:r>
            <a:r>
              <a:rPr lang="en-IN" sz="2400" spc="-10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for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45" dirty="0">
                <a:latin typeface="Arial"/>
                <a:cs typeface="Arial"/>
              </a:rPr>
              <a:t>3–5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55" dirty="0">
                <a:latin typeface="Arial"/>
                <a:cs typeface="Arial"/>
              </a:rPr>
              <a:t>epochs;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40" dirty="0">
                <a:latin typeface="Arial"/>
                <a:cs typeface="Arial"/>
              </a:rPr>
              <a:t>early</a:t>
            </a:r>
            <a:r>
              <a:rPr lang="en-IN" sz="2400" spc="-10" dirty="0">
                <a:latin typeface="Arial"/>
                <a:cs typeface="Arial"/>
              </a:rPr>
              <a:t> </a:t>
            </a:r>
            <a:r>
              <a:rPr lang="en-IN" sz="2400" spc="-35" dirty="0">
                <a:latin typeface="Arial"/>
                <a:cs typeface="Arial"/>
              </a:rPr>
              <a:t>stopping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40" dirty="0">
                <a:latin typeface="Arial"/>
                <a:cs typeface="Arial"/>
              </a:rPr>
              <a:t>applied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60" dirty="0">
                <a:latin typeface="Arial"/>
                <a:cs typeface="Arial"/>
              </a:rPr>
              <a:t>when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25" dirty="0">
                <a:latin typeface="Arial"/>
                <a:cs typeface="Arial"/>
              </a:rPr>
              <a:t>validation</a:t>
            </a:r>
            <a:r>
              <a:rPr lang="en-IN" sz="2400" spc="-5" dirty="0">
                <a:latin typeface="Arial"/>
                <a:cs typeface="Arial"/>
              </a:rPr>
              <a:t> </a:t>
            </a:r>
            <a:r>
              <a:rPr lang="en-IN" sz="2400" spc="-45" dirty="0">
                <a:latin typeface="Arial"/>
                <a:cs typeface="Arial"/>
              </a:rPr>
              <a:t>loss </a:t>
            </a:r>
            <a:r>
              <a:rPr lang="en-IN" sz="2400" spc="-10" dirty="0">
                <a:latin typeface="Arial"/>
                <a:cs typeface="Arial"/>
              </a:rPr>
              <a:t>plateaued.</a:t>
            </a:r>
            <a:endParaRPr lang="en-IN" sz="2400" dirty="0">
              <a:latin typeface="Arial"/>
              <a:cs typeface="Arial"/>
            </a:endParaRPr>
          </a:p>
          <a:p>
            <a:pPr marL="12700" marR="46355">
              <a:lnSpc>
                <a:spcPct val="102600"/>
              </a:lnSpc>
              <a:spcBef>
                <a:spcPts val="300"/>
              </a:spcBef>
            </a:pPr>
            <a:r>
              <a:rPr lang="en-IN" sz="2400" spc="-30" dirty="0">
                <a:latin typeface="Arial"/>
                <a:cs typeface="Arial"/>
              </a:rPr>
              <a:t>Dataset</a:t>
            </a:r>
            <a:r>
              <a:rPr lang="en-IN" sz="2400" dirty="0">
                <a:latin typeface="Arial"/>
                <a:cs typeface="Arial"/>
              </a:rPr>
              <a:t> split:</a:t>
            </a:r>
            <a:r>
              <a:rPr lang="en-IN" sz="2400" spc="105" dirty="0">
                <a:latin typeface="Arial"/>
                <a:cs typeface="Arial"/>
              </a:rPr>
              <a:t> </a:t>
            </a:r>
            <a:r>
              <a:rPr lang="en-IN" sz="2400" spc="-50" dirty="0">
                <a:latin typeface="Arial"/>
                <a:cs typeface="Arial"/>
              </a:rPr>
              <a:t>70%</a:t>
            </a:r>
            <a:r>
              <a:rPr lang="en-IN" sz="2400" spc="5" dirty="0">
                <a:latin typeface="Arial"/>
                <a:cs typeface="Arial"/>
              </a:rPr>
              <a:t> </a:t>
            </a:r>
            <a:r>
              <a:rPr lang="en-IN" sz="2400" spc="-10" dirty="0">
                <a:latin typeface="Arial"/>
                <a:cs typeface="Arial"/>
              </a:rPr>
              <a:t>training,</a:t>
            </a:r>
            <a:r>
              <a:rPr lang="en-IN" sz="2400" dirty="0">
                <a:latin typeface="Arial"/>
                <a:cs typeface="Arial"/>
              </a:rPr>
              <a:t> </a:t>
            </a:r>
            <a:r>
              <a:rPr lang="en-IN" sz="2400" spc="-50" dirty="0">
                <a:latin typeface="Arial"/>
                <a:cs typeface="Arial"/>
              </a:rPr>
              <a:t>15%</a:t>
            </a:r>
            <a:r>
              <a:rPr lang="en-IN" sz="2400" spc="5" dirty="0">
                <a:latin typeface="Arial"/>
                <a:cs typeface="Arial"/>
              </a:rPr>
              <a:t> </a:t>
            </a:r>
            <a:r>
              <a:rPr lang="en-IN" sz="2400" spc="-25" dirty="0">
                <a:latin typeface="Arial"/>
                <a:cs typeface="Arial"/>
              </a:rPr>
              <a:t>validation,</a:t>
            </a:r>
            <a:r>
              <a:rPr lang="en-IN" sz="2400" spc="5" dirty="0">
                <a:latin typeface="Arial"/>
                <a:cs typeface="Arial"/>
              </a:rPr>
              <a:t> </a:t>
            </a:r>
            <a:r>
              <a:rPr lang="en-IN" sz="2400" spc="-50" dirty="0">
                <a:latin typeface="Arial"/>
                <a:cs typeface="Arial"/>
              </a:rPr>
              <a:t>15%</a:t>
            </a:r>
            <a:r>
              <a:rPr lang="en-IN" sz="2400" dirty="0">
                <a:latin typeface="Arial"/>
                <a:cs typeface="Arial"/>
              </a:rPr>
              <a:t> </a:t>
            </a:r>
            <a:r>
              <a:rPr lang="en-IN" sz="2400" spc="-20" dirty="0">
                <a:latin typeface="Arial"/>
                <a:cs typeface="Arial"/>
              </a:rPr>
              <a:t>testing</a:t>
            </a:r>
            <a:r>
              <a:rPr lang="en-IN" sz="2400" spc="5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with</a:t>
            </a:r>
            <a:r>
              <a:rPr lang="en-IN" sz="2400" spc="5" dirty="0">
                <a:latin typeface="Arial"/>
                <a:cs typeface="Arial"/>
              </a:rPr>
              <a:t> </a:t>
            </a:r>
            <a:r>
              <a:rPr lang="en-IN" sz="2400" spc="-35" dirty="0">
                <a:latin typeface="Arial"/>
                <a:cs typeface="Arial"/>
              </a:rPr>
              <a:t>5-</a:t>
            </a:r>
            <a:r>
              <a:rPr lang="en-IN" sz="2400" spc="-20" dirty="0">
                <a:latin typeface="Arial"/>
                <a:cs typeface="Arial"/>
              </a:rPr>
              <a:t>fold </a:t>
            </a:r>
            <a:r>
              <a:rPr lang="en-IN" sz="2400" spc="-50" dirty="0">
                <a:latin typeface="Arial"/>
                <a:cs typeface="Arial"/>
              </a:rPr>
              <a:t>cross-</a:t>
            </a:r>
            <a:r>
              <a:rPr lang="en-IN" sz="2400" spc="-10" dirty="0">
                <a:latin typeface="Arial"/>
                <a:cs typeface="Arial"/>
              </a:rPr>
              <a:t>validation.</a:t>
            </a:r>
            <a:endParaRPr lang="en-IN" sz="2400" dirty="0">
              <a:latin typeface="Arial"/>
              <a:cs typeface="Arial"/>
            </a:endParaRPr>
          </a:p>
          <a:p>
            <a:pPr marL="12700" marR="78105">
              <a:lnSpc>
                <a:spcPct val="102699"/>
              </a:lnSpc>
              <a:spcBef>
                <a:spcPts val="295"/>
              </a:spcBef>
            </a:pPr>
            <a:r>
              <a:rPr lang="en-IN" sz="2400" spc="-25" dirty="0">
                <a:latin typeface="Arial"/>
                <a:cs typeface="Arial"/>
              </a:rPr>
              <a:t>Training</a:t>
            </a:r>
            <a:r>
              <a:rPr lang="en-IN" sz="2400" spc="5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time:</a:t>
            </a:r>
            <a:r>
              <a:rPr lang="en-IN" sz="2400" spc="105" dirty="0">
                <a:latin typeface="Arial"/>
                <a:cs typeface="Arial"/>
              </a:rPr>
              <a:t> </a:t>
            </a:r>
            <a:r>
              <a:rPr lang="en-IN" sz="2400" spc="-20" dirty="0">
                <a:latin typeface="Arial"/>
                <a:cs typeface="Arial"/>
              </a:rPr>
              <a:t>BERT/</a:t>
            </a:r>
            <a:r>
              <a:rPr lang="en-IN" sz="2400" spc="-20" dirty="0" err="1">
                <a:latin typeface="Arial"/>
                <a:cs typeface="Arial"/>
              </a:rPr>
              <a:t>RoBERTa</a:t>
            </a:r>
            <a:r>
              <a:rPr lang="en-IN" sz="2400" spc="320" dirty="0">
                <a:latin typeface="Arial"/>
                <a:cs typeface="Arial"/>
              </a:rPr>
              <a:t> </a:t>
            </a:r>
            <a:r>
              <a:rPr lang="en-IN" sz="2400" spc="-60" dirty="0">
                <a:latin typeface="Arial"/>
                <a:cs typeface="Arial"/>
              </a:rPr>
              <a:t>20–25</a:t>
            </a:r>
            <a:r>
              <a:rPr lang="en-IN" sz="2400" spc="5" dirty="0">
                <a:latin typeface="Arial"/>
                <a:cs typeface="Arial"/>
              </a:rPr>
              <a:t> </a:t>
            </a:r>
            <a:r>
              <a:rPr lang="en-IN" sz="2400" spc="-10" dirty="0">
                <a:latin typeface="Arial"/>
                <a:cs typeface="Arial"/>
              </a:rPr>
              <a:t>min/epoch;</a:t>
            </a:r>
            <a:r>
              <a:rPr lang="en-IN" sz="2400" spc="10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T5</a:t>
            </a:r>
            <a:r>
              <a:rPr lang="en-IN" sz="2400" spc="315" dirty="0">
                <a:latin typeface="Arial"/>
                <a:cs typeface="Arial"/>
              </a:rPr>
              <a:t> </a:t>
            </a:r>
            <a:r>
              <a:rPr lang="en-IN" sz="2400" spc="-60" dirty="0">
                <a:latin typeface="Arial"/>
                <a:cs typeface="Arial"/>
              </a:rPr>
              <a:t>35–40</a:t>
            </a:r>
            <a:r>
              <a:rPr lang="en-IN" sz="2400" spc="10" dirty="0">
                <a:latin typeface="Arial"/>
                <a:cs typeface="Arial"/>
              </a:rPr>
              <a:t> </a:t>
            </a:r>
            <a:r>
              <a:rPr lang="en-IN" sz="2400" spc="-25" dirty="0">
                <a:latin typeface="Arial"/>
                <a:cs typeface="Arial"/>
              </a:rPr>
              <a:t>min </a:t>
            </a:r>
            <a:r>
              <a:rPr lang="en-IN" sz="2400" dirty="0">
                <a:latin typeface="Arial"/>
                <a:cs typeface="Arial"/>
              </a:rPr>
              <a:t>on</a:t>
            </a:r>
            <a:r>
              <a:rPr lang="en-IN" sz="2400" spc="-15" dirty="0">
                <a:latin typeface="Arial"/>
                <a:cs typeface="Arial"/>
              </a:rPr>
              <a:t> </a:t>
            </a:r>
            <a:r>
              <a:rPr lang="en-IN" sz="2400" spc="-35" dirty="0">
                <a:latin typeface="Arial"/>
                <a:cs typeface="Arial"/>
              </a:rPr>
              <a:t>A100</a:t>
            </a:r>
            <a:r>
              <a:rPr lang="en-IN" sz="2400" spc="-10" dirty="0">
                <a:latin typeface="Arial"/>
                <a:cs typeface="Arial"/>
              </a:rPr>
              <a:t> </a:t>
            </a:r>
            <a:r>
              <a:rPr lang="en-IN" sz="2400" spc="-30" dirty="0">
                <a:latin typeface="Arial"/>
                <a:cs typeface="Arial"/>
              </a:rPr>
              <a:t>GPU;</a:t>
            </a:r>
            <a:r>
              <a:rPr lang="en-IN" sz="2400" spc="-10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ML</a:t>
            </a:r>
            <a:r>
              <a:rPr lang="en-IN" sz="2400" spc="-10" dirty="0">
                <a:latin typeface="Arial"/>
                <a:cs typeface="Arial"/>
              </a:rPr>
              <a:t> </a:t>
            </a:r>
            <a:r>
              <a:rPr lang="en-IN" sz="2400" spc="-55" dirty="0">
                <a:latin typeface="Arial"/>
                <a:cs typeface="Arial"/>
              </a:rPr>
              <a:t>models</a:t>
            </a:r>
            <a:r>
              <a:rPr lang="en-IN" sz="2400" spc="-15" dirty="0">
                <a:latin typeface="Arial"/>
                <a:cs typeface="Arial"/>
              </a:rPr>
              <a:t> </a:t>
            </a:r>
            <a:r>
              <a:rPr lang="en-IN" sz="2400" spc="-25" dirty="0">
                <a:latin typeface="Arial"/>
                <a:cs typeface="Arial"/>
              </a:rPr>
              <a:t>trained</a:t>
            </a:r>
            <a:r>
              <a:rPr lang="en-IN" sz="2400" spc="-10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in</a:t>
            </a:r>
            <a:r>
              <a:rPr lang="en-IN" sz="2400" spc="-10" dirty="0">
                <a:latin typeface="Arial"/>
                <a:cs typeface="Arial"/>
              </a:rPr>
              <a:t> minutes.</a:t>
            </a:r>
            <a:endParaRPr lang="en-IN" sz="2400" dirty="0">
              <a:latin typeface="Arial"/>
              <a:cs typeface="Arial"/>
            </a:endParaRP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4C648-BF1B-4B95-BAD7-38EAC27F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204" y="6407149"/>
            <a:ext cx="7084177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46CDE-A3DC-4F13-86BC-28AAB7DF8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274" y="-38100"/>
            <a:ext cx="1238251" cy="117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27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3F28-C9F6-42D9-9E32-7ADBE47B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242" y="933450"/>
            <a:ext cx="7288214" cy="1162050"/>
          </a:xfrm>
        </p:spPr>
        <p:txBody>
          <a:bodyPr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b="1" u="sng" dirty="0">
                <a:cs typeface="Gill Sans MT"/>
              </a:rPr>
              <a:t>Prompt</a:t>
            </a:r>
            <a:r>
              <a:rPr lang="en-IN" b="1" u="sng" spc="355" dirty="0">
                <a:cs typeface="Gill Sans MT"/>
              </a:rPr>
              <a:t> </a:t>
            </a:r>
            <a:r>
              <a:rPr lang="en-IN" b="1" u="sng" dirty="0">
                <a:cs typeface="Gill Sans MT"/>
              </a:rPr>
              <a:t>Example-</a:t>
            </a:r>
            <a:r>
              <a:rPr lang="en-IN" b="1" u="sng" spc="-50" dirty="0">
                <a:cs typeface="Gill Sans MT"/>
              </a:rPr>
              <a:t>1</a:t>
            </a:r>
            <a:br>
              <a:rPr lang="en-IN" b="1" u="sng" dirty="0">
                <a:cs typeface="Gill Sans MT"/>
              </a:rPr>
            </a:br>
            <a:endParaRPr lang="en-IN" b="1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F5D3D-AD13-40C7-985C-C0052528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8222" y="6330950"/>
            <a:ext cx="7084177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5E3E7A8-6054-488E-AC81-80662519CC0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490913" y="2236043"/>
            <a:ext cx="5210174" cy="2385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570CAD-2E4E-4FAA-A13C-0493281C2520}"/>
              </a:ext>
            </a:extLst>
          </p:cNvPr>
          <p:cNvSpPr txBox="1"/>
          <p:nvPr/>
        </p:nvSpPr>
        <p:spPr>
          <a:xfrm>
            <a:off x="3667125" y="48832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30" dirty="0">
                <a:solidFill>
                  <a:srgbClr val="3333B2"/>
                </a:solidFill>
                <a:latin typeface="Arial"/>
                <a:cs typeface="Arial"/>
              </a:rPr>
              <a:t>Figure:</a:t>
            </a:r>
            <a:r>
              <a:rPr lang="en-US" sz="18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lang="en-US" sz="1800" spc="-30" dirty="0">
                <a:latin typeface="Arial"/>
                <a:cs typeface="Arial"/>
              </a:rPr>
              <a:t>Chain-</a:t>
            </a:r>
            <a:r>
              <a:rPr lang="en-US" sz="1800" spc="-25" dirty="0">
                <a:latin typeface="Arial"/>
                <a:cs typeface="Arial"/>
              </a:rPr>
              <a:t>of-</a:t>
            </a:r>
            <a:r>
              <a:rPr lang="en-US" sz="1800" spc="-20" dirty="0">
                <a:latin typeface="Arial"/>
                <a:cs typeface="Arial"/>
              </a:rPr>
              <a:t>Thought</a:t>
            </a:r>
            <a:r>
              <a:rPr lang="en-US" sz="1800" spc="15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Arial"/>
                <a:cs typeface="Arial"/>
              </a:rPr>
              <a:t>prompt</a:t>
            </a:r>
            <a:r>
              <a:rPr lang="en-US" sz="1800" spc="15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for</a:t>
            </a:r>
            <a:r>
              <a:rPr lang="en-US" sz="1800" spc="1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Bert</a:t>
            </a:r>
            <a:r>
              <a:rPr lang="en-US" sz="1800" spc="20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Arial"/>
                <a:cs typeface="Arial"/>
              </a:rPr>
              <a:t>Model</a:t>
            </a:r>
            <a:endParaRPr lang="en-US" sz="1800" dirty="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B12233-B4EC-4D37-B828-A6F3BCAFD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274" y="-38100"/>
            <a:ext cx="1238251" cy="117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87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2718-2778-457A-82D4-C56DB903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958" y="1135063"/>
            <a:ext cx="10018713" cy="1285874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u="sng" dirty="0">
                <a:cs typeface="Gill Sans MT"/>
              </a:rPr>
              <a:t>Prompt</a:t>
            </a:r>
            <a:r>
              <a:rPr lang="en-IN" sz="4000" b="1" u="sng" spc="355" dirty="0">
                <a:cs typeface="Gill Sans MT"/>
              </a:rPr>
              <a:t> </a:t>
            </a:r>
            <a:r>
              <a:rPr lang="en-IN" sz="4400" b="1" u="sng" dirty="0">
                <a:cs typeface="Gill Sans MT"/>
              </a:rPr>
              <a:t>Example-</a:t>
            </a:r>
            <a:r>
              <a:rPr lang="en-IN" sz="4400" b="1" u="sng" spc="-50" dirty="0">
                <a:cs typeface="Gill Sans MT"/>
              </a:rPr>
              <a:t>2</a:t>
            </a:r>
            <a:br>
              <a:rPr lang="en-IN" sz="4000" b="1" u="sng" dirty="0">
                <a:latin typeface="Gill Sans MT"/>
                <a:cs typeface="Gill Sans MT"/>
              </a:rPr>
            </a:br>
            <a:endParaRPr lang="en-IN" b="1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27DA1-2E96-4EB3-B483-5329C695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8679" y="6245225"/>
            <a:ext cx="7084177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61BCB5E-2EE1-4500-A53C-8047C477652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67151" y="2420937"/>
            <a:ext cx="4550328" cy="2389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B2A575-6390-4791-B159-328C2F09D7D2}"/>
              </a:ext>
            </a:extLst>
          </p:cNvPr>
          <p:cNvSpPr txBox="1"/>
          <p:nvPr/>
        </p:nvSpPr>
        <p:spPr>
          <a:xfrm>
            <a:off x="3486150" y="51583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30" dirty="0">
                <a:solidFill>
                  <a:srgbClr val="3333B2"/>
                </a:solidFill>
                <a:latin typeface="Arial"/>
                <a:cs typeface="Arial"/>
              </a:rPr>
              <a:t>Figure:</a:t>
            </a:r>
            <a:r>
              <a:rPr lang="en-US" sz="18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lang="en-US" sz="1800" spc="-30" dirty="0">
                <a:latin typeface="Arial"/>
                <a:cs typeface="Arial"/>
              </a:rPr>
              <a:t>Chain-</a:t>
            </a:r>
            <a:r>
              <a:rPr lang="en-US" sz="1800" spc="-25" dirty="0">
                <a:latin typeface="Arial"/>
                <a:cs typeface="Arial"/>
              </a:rPr>
              <a:t>of-</a:t>
            </a:r>
            <a:r>
              <a:rPr lang="en-US" sz="1800" spc="-10" dirty="0">
                <a:latin typeface="Arial"/>
                <a:cs typeface="Arial"/>
              </a:rPr>
              <a:t>Thought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Arial"/>
                <a:cs typeface="Arial"/>
              </a:rPr>
              <a:t>prompt</a:t>
            </a:r>
            <a:r>
              <a:rPr lang="en-US" sz="1800" dirty="0">
                <a:latin typeface="Arial"/>
                <a:cs typeface="Arial"/>
              </a:rPr>
              <a:t> for </a:t>
            </a:r>
            <a:r>
              <a:rPr lang="en-US" sz="1800" spc="-30" dirty="0" err="1">
                <a:latin typeface="Arial"/>
                <a:cs typeface="Arial"/>
              </a:rPr>
              <a:t>RoBerta</a:t>
            </a:r>
            <a:r>
              <a:rPr lang="en-US" sz="1800" spc="-5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Arial"/>
                <a:cs typeface="Arial"/>
              </a:rPr>
              <a:t>Model</a:t>
            </a:r>
            <a:endParaRPr lang="en-US" sz="1800" dirty="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07B282-ED27-45DD-8B57-ABB12CAF9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274" y="-38100"/>
            <a:ext cx="1238251" cy="117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08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125A-7223-350D-60A7-B4AB5408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284D-013A-13A2-1D86-E517788C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561" y="1419288"/>
            <a:ext cx="9323598" cy="985838"/>
          </a:xfrm>
        </p:spPr>
        <p:txBody>
          <a:bodyPr>
            <a:normAutofit/>
          </a:bodyPr>
          <a:lstStyle/>
          <a:p>
            <a:r>
              <a:rPr lang="en-IN" b="1" u="sng" dirty="0"/>
              <a:t>Dataset Details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FABAA-9A82-70FA-DD27-480CEEFC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097" y="6367335"/>
            <a:ext cx="5620209" cy="365125"/>
          </a:xfrm>
        </p:spPr>
        <p:txBody>
          <a:bodyPr/>
          <a:lstStyle/>
          <a:p>
            <a:r>
              <a:rPr lang="en-US" sz="1100" b="1" dirty="0"/>
              <a:t>4</a:t>
            </a:r>
            <a:r>
              <a:rPr lang="en-US" sz="1100" b="1" baseline="30000" dirty="0"/>
              <a:t>th</a:t>
            </a:r>
            <a:r>
              <a:rPr lang="en-US" sz="1100" b="1" dirty="0"/>
              <a:t>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89D2E5-B79E-A9F5-A86F-DB1091302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834280FE-BBE9-4EEE-B615-D57D8704B11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971801" y="3086101"/>
            <a:ext cx="7836934" cy="136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15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ABDB-7131-31A7-F4A3-6E9E991B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A693-252C-1A32-0275-C18FB314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087" y="-228599"/>
            <a:ext cx="9323598" cy="841084"/>
          </a:xfrm>
        </p:spPr>
        <p:txBody>
          <a:bodyPr>
            <a:noAutofit/>
          </a:bodyPr>
          <a:lstStyle/>
          <a:p>
            <a:r>
              <a:rPr lang="en-IN" b="1" u="sng" dirty="0"/>
              <a:t>Experimental Results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C76F4C0-B563-4ABE-8E0B-5E269B593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735098"/>
              </p:ext>
            </p:extLst>
          </p:nvPr>
        </p:nvGraphicFramePr>
        <p:xfrm>
          <a:off x="1798638" y="638901"/>
          <a:ext cx="10018710" cy="5136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9785">
                  <a:extLst>
                    <a:ext uri="{9D8B030D-6E8A-4147-A177-3AD203B41FA5}">
                      <a16:colId xmlns:a16="http://schemas.microsoft.com/office/drawing/2014/main" val="3560313775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1587863610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3875160020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3291826970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2875110032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1575352865"/>
                    </a:ext>
                  </a:extLst>
                </a:gridCol>
              </a:tblGrid>
              <a:tr h="513624">
                <a:tc>
                  <a:txBody>
                    <a:bodyPr/>
                    <a:lstStyle/>
                    <a:p>
                      <a:pPr marL="75565">
                        <a:lnSpc>
                          <a:spcPts val="500"/>
                        </a:lnSpc>
                      </a:pPr>
                      <a:endParaRPr lang="en-US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r>
                        <a:rPr lang="en-IN" sz="2000" b="1" spc="-10" dirty="0">
                          <a:latin typeface="+mj-lt"/>
                          <a:cs typeface="Gill Sans MT"/>
                        </a:rPr>
                        <a:t>    </a:t>
                      </a:r>
                      <a:r>
                        <a:rPr sz="2000" b="1" spc="-10" dirty="0">
                          <a:latin typeface="+mj-lt"/>
                          <a:cs typeface="Gill Sans MT"/>
                        </a:rPr>
                        <a:t>Category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500"/>
                        </a:lnSpc>
                      </a:pPr>
                      <a:endParaRPr lang="en-US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marL="75565">
                        <a:lnSpc>
                          <a:spcPts val="500"/>
                        </a:lnSpc>
                      </a:pPr>
                      <a:r>
                        <a:rPr lang="en-IN" sz="2000" b="1" spc="-10" dirty="0">
                          <a:latin typeface="+mj-lt"/>
                          <a:cs typeface="Gill Sans MT"/>
                        </a:rPr>
                        <a:t>  </a:t>
                      </a:r>
                    </a:p>
                    <a:p>
                      <a:pPr marL="75565">
                        <a:lnSpc>
                          <a:spcPts val="500"/>
                        </a:lnSpc>
                      </a:pPr>
                      <a:r>
                        <a:rPr lang="en-US" sz="2000" b="1" spc="-10" dirty="0">
                          <a:latin typeface="+mj-lt"/>
                          <a:cs typeface="Gill Sans MT"/>
                        </a:rPr>
                        <a:t>     </a:t>
                      </a:r>
                      <a:r>
                        <a:rPr sz="2000" b="1" spc="-10" dirty="0">
                          <a:latin typeface="+mj-lt"/>
                          <a:cs typeface="Gill Sans MT"/>
                        </a:rPr>
                        <a:t>Model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0"/>
                        </a:lnSpc>
                      </a:pPr>
                      <a:endParaRPr lang="en-US" sz="2000" b="1" spc="-2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r>
                        <a:rPr sz="2000" b="1" spc="-20" dirty="0">
                          <a:latin typeface="+mj-lt"/>
                          <a:cs typeface="Gill Sans MT"/>
                        </a:rPr>
                        <a:t>Acc</a:t>
                      </a:r>
                      <a:r>
                        <a:rPr lang="en-US" sz="2000" b="1" spc="-20" dirty="0">
                          <a:latin typeface="+mj-lt"/>
                          <a:cs typeface="Gill Sans MT"/>
                        </a:rPr>
                        <a:t>uracy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0"/>
                        </a:lnSpc>
                      </a:pPr>
                      <a:endParaRPr lang="en-US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r>
                        <a:rPr sz="2000" b="1" spc="-10" dirty="0">
                          <a:latin typeface="+mj-lt"/>
                          <a:cs typeface="Gill Sans MT"/>
                        </a:rPr>
                        <a:t>Prec</a:t>
                      </a:r>
                      <a:r>
                        <a:rPr lang="en-US" sz="2000" b="1" spc="-10" dirty="0">
                          <a:latin typeface="+mj-lt"/>
                          <a:cs typeface="Gill Sans MT"/>
                        </a:rPr>
                        <a:t>ision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0"/>
                        </a:lnSpc>
                      </a:pPr>
                      <a:endParaRPr lang="en-US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10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r>
                        <a:rPr sz="2000" b="1" spc="-10" dirty="0">
                          <a:latin typeface="+mj-lt"/>
                          <a:cs typeface="Gill Sans MT"/>
                        </a:rPr>
                        <a:t>Recall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0"/>
                        </a:lnSpc>
                      </a:pPr>
                      <a:endParaRPr lang="en-US" sz="2000" b="1" spc="-25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5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5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5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5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endParaRPr lang="en-IN" sz="2000" b="1" spc="-25" dirty="0">
                        <a:latin typeface="+mj-lt"/>
                        <a:cs typeface="Gill Sans MT"/>
                      </a:endParaRPr>
                    </a:p>
                    <a:p>
                      <a:pPr algn="ctr">
                        <a:lnSpc>
                          <a:spcPts val="500"/>
                        </a:lnSpc>
                      </a:pPr>
                      <a:r>
                        <a:rPr sz="2000" b="1" spc="-25" dirty="0">
                          <a:latin typeface="+mj-lt"/>
                          <a:cs typeface="Gill Sans MT"/>
                        </a:rPr>
                        <a:t>F1</a:t>
                      </a:r>
                      <a:endParaRPr sz="2000" dirty="0">
                        <a:latin typeface="+mj-lt"/>
                        <a:cs typeface="Gill Sans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59501348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BE6B7-B71D-AD3C-2DE8-4F677A6B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9160" y="6724650"/>
            <a:ext cx="5486390" cy="88899"/>
          </a:xfrm>
        </p:spPr>
        <p:txBody>
          <a:bodyPr/>
          <a:lstStyle/>
          <a:p>
            <a:r>
              <a:rPr lang="en-US" sz="1100" b="1" dirty="0"/>
              <a:t>4</a:t>
            </a:r>
            <a:r>
              <a:rPr lang="en-US" sz="1100" b="1" baseline="30000" dirty="0"/>
              <a:t>th</a:t>
            </a:r>
            <a:r>
              <a:rPr lang="en-US" sz="1100" b="1" dirty="0"/>
              <a:t>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9EF7B1-CE50-0C2E-4459-AFA1676FC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950" y="0"/>
            <a:ext cx="903179" cy="638900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550949F-574C-41C6-8FF6-EFD606147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573642"/>
              </p:ext>
            </p:extLst>
          </p:nvPr>
        </p:nvGraphicFramePr>
        <p:xfrm>
          <a:off x="1798637" y="1152526"/>
          <a:ext cx="10018710" cy="23178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9785">
                  <a:extLst>
                    <a:ext uri="{9D8B030D-6E8A-4147-A177-3AD203B41FA5}">
                      <a16:colId xmlns:a16="http://schemas.microsoft.com/office/drawing/2014/main" val="591282832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333858689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3327472534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2977357066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3728507820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4017839191"/>
                    </a:ext>
                  </a:extLst>
                </a:gridCol>
              </a:tblGrid>
              <a:tr h="386532">
                <a:tc rowSpan="7">
                  <a:txBody>
                    <a:bodyPr/>
                    <a:lstStyle/>
                    <a:p>
                      <a:endParaRPr lang="en-IN" sz="1200" spc="-2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IN" sz="1200" spc="-2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Fake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2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Logistic</a:t>
                      </a:r>
                      <a:r>
                        <a:rPr sz="12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Regression</a:t>
                      </a:r>
                      <a:endParaRPr lang="en-IN" sz="12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sz="1200" spc="-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spc="-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4734855"/>
                  </a:ext>
                </a:extLst>
              </a:tr>
              <a:tr h="29108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 marR="0" lvl="0" indent="0" algn="l" defTabSz="457200" rtl="0" eaLnBrk="1" fontAlgn="auto" latinLnBrk="0" hangingPunct="1">
                        <a:lnSpc>
                          <a:spcPts val="4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75565" marR="0" lvl="0" indent="0" algn="l" defTabSz="457200" rtl="0" eaLnBrk="1" fontAlgn="auto" latinLnBrk="0" hangingPunct="1">
                        <a:lnSpc>
                          <a:spcPts val="4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75565" marR="0" lvl="0" indent="0" algn="l" defTabSz="457200" rtl="0" eaLnBrk="1" fontAlgn="auto" latinLnBrk="0" hangingPunct="1">
                        <a:lnSpc>
                          <a:spcPts val="4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75565" marR="0" lvl="0" indent="0" algn="l" defTabSz="457200" rtl="0" eaLnBrk="1" fontAlgn="auto" latinLnBrk="0" hangingPunct="1">
                        <a:lnSpc>
                          <a:spcPts val="4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Decision Tree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236695"/>
                  </a:ext>
                </a:extLst>
              </a:tr>
              <a:tr h="3260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Gradient Boosting</a:t>
                      </a: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442504"/>
                  </a:ext>
                </a:extLst>
              </a:tr>
              <a:tr h="28732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371434"/>
                  </a:ext>
                </a:extLst>
              </a:tr>
              <a:tr h="26549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95688"/>
                  </a:ext>
                </a:extLst>
              </a:tr>
              <a:tr h="39400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RoBERTa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634813"/>
                  </a:ext>
                </a:extLst>
              </a:tr>
              <a:tr h="3260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6396936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A732BEF-E1B9-4622-9D1B-A0019CA77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12565"/>
              </p:ext>
            </p:extLst>
          </p:nvPr>
        </p:nvGraphicFramePr>
        <p:xfrm>
          <a:off x="1798637" y="3470386"/>
          <a:ext cx="10018710" cy="2317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9785">
                  <a:extLst>
                    <a:ext uri="{9D8B030D-6E8A-4147-A177-3AD203B41FA5}">
                      <a16:colId xmlns:a16="http://schemas.microsoft.com/office/drawing/2014/main" val="2856412487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2499015550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1039878040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4002956686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2211839352"/>
                    </a:ext>
                  </a:extLst>
                </a:gridCol>
                <a:gridCol w="1669785">
                  <a:extLst>
                    <a:ext uri="{9D8B030D-6E8A-4147-A177-3AD203B41FA5}">
                      <a16:colId xmlns:a16="http://schemas.microsoft.com/office/drawing/2014/main" val="339254461"/>
                    </a:ext>
                  </a:extLst>
                </a:gridCol>
              </a:tblGrid>
              <a:tr h="408216">
                <a:tc rowSpan="7">
                  <a:txBody>
                    <a:bodyPr/>
                    <a:lstStyle/>
                    <a:p>
                      <a:endParaRPr lang="en-IN" sz="1200" spc="-2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IN" sz="1200" spc="-2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2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Logistic</a:t>
                      </a:r>
                      <a:r>
                        <a:rPr sz="1200" spc="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Regression</a:t>
                      </a:r>
                      <a:endParaRPr lang="en-IN" sz="12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sz="1200" spc="-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spc="-2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spc="-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67692"/>
                  </a:ext>
                </a:extLst>
              </a:tr>
              <a:tr h="28053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 marR="0" lvl="0" indent="0" algn="l" defTabSz="457200" rtl="0" eaLnBrk="1" fontAlgn="auto" latinLnBrk="0" hangingPunct="1">
                        <a:lnSpc>
                          <a:spcPts val="4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75565" marR="0" lvl="0" indent="0" algn="l" defTabSz="457200" rtl="0" eaLnBrk="1" fontAlgn="auto" latinLnBrk="0" hangingPunct="1">
                        <a:lnSpc>
                          <a:spcPts val="4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75565" marR="0" lvl="0" indent="0" algn="l" defTabSz="457200" rtl="0" eaLnBrk="1" fontAlgn="auto" latinLnBrk="0" hangingPunct="1">
                        <a:lnSpc>
                          <a:spcPts val="4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75565" marR="0" lvl="0" indent="0" algn="l" defTabSz="457200" rtl="0" eaLnBrk="1" fontAlgn="auto" latinLnBrk="0" hangingPunct="1">
                        <a:lnSpc>
                          <a:spcPts val="4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Decision Tree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791005"/>
                  </a:ext>
                </a:extLst>
              </a:tr>
              <a:tr h="34430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Gradient Boosting</a:t>
                      </a: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233055"/>
                  </a:ext>
                </a:extLst>
              </a:tr>
              <a:tr h="28038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18122"/>
                  </a:ext>
                </a:extLst>
              </a:tr>
              <a:tr h="28038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672616"/>
                  </a:ext>
                </a:extLst>
              </a:tr>
              <a:tr h="37972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RoBERTa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043657"/>
                  </a:ext>
                </a:extLst>
              </a:tr>
              <a:tr h="34430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75565">
                        <a:lnSpc>
                          <a:spcPts val="475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T5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ts val="470"/>
                        </a:lnSpc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5932842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B3BF0C2-25FF-40F7-AE6F-993438D5FCE7}"/>
              </a:ext>
            </a:extLst>
          </p:cNvPr>
          <p:cNvSpPr txBox="1"/>
          <p:nvPr/>
        </p:nvSpPr>
        <p:spPr>
          <a:xfrm>
            <a:off x="3486150" y="5982684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30" dirty="0">
                <a:solidFill>
                  <a:srgbClr val="3333B2"/>
                </a:solidFill>
                <a:latin typeface="Arial"/>
                <a:cs typeface="Arial"/>
              </a:rPr>
              <a:t>Figure:</a:t>
            </a:r>
            <a:r>
              <a:rPr lang="en-US" sz="1800" spc="-5" dirty="0">
                <a:solidFill>
                  <a:srgbClr val="3333B2"/>
                </a:solidFill>
                <a:latin typeface="Arial"/>
                <a:cs typeface="Arial"/>
              </a:rPr>
              <a:t>   </a:t>
            </a:r>
            <a:r>
              <a:rPr lang="en-US" dirty="0"/>
              <a:t>Performance</a:t>
            </a:r>
            <a:r>
              <a:rPr lang="en-US" spc="105" dirty="0"/>
              <a:t> </a:t>
            </a:r>
            <a:r>
              <a:rPr lang="en-US" spc="-10" dirty="0"/>
              <a:t>Comparison</a:t>
            </a:r>
            <a:r>
              <a:rPr lang="en-US" spc="105" dirty="0"/>
              <a:t> </a:t>
            </a:r>
            <a:r>
              <a:rPr lang="en-US" dirty="0"/>
              <a:t>of</a:t>
            </a:r>
            <a:r>
              <a:rPr lang="en-US" spc="105" dirty="0"/>
              <a:t> </a:t>
            </a:r>
            <a:r>
              <a:rPr lang="en-US" dirty="0"/>
              <a:t>Traditional</a:t>
            </a:r>
            <a:r>
              <a:rPr lang="en-US" spc="105" dirty="0"/>
              <a:t> </a:t>
            </a:r>
            <a:r>
              <a:rPr lang="en-US" dirty="0"/>
              <a:t>Machine</a:t>
            </a:r>
            <a:r>
              <a:rPr lang="en-US" spc="105" dirty="0"/>
              <a:t> </a:t>
            </a:r>
            <a:r>
              <a:rPr lang="en-US" spc="-10" dirty="0"/>
              <a:t>Learning </a:t>
            </a:r>
            <a:r>
              <a:rPr lang="en-US" dirty="0"/>
              <a:t>Models</a:t>
            </a:r>
            <a:r>
              <a:rPr lang="en-US" spc="145" dirty="0"/>
              <a:t> </a:t>
            </a:r>
            <a:r>
              <a:rPr lang="en-US" dirty="0"/>
              <a:t>and</a:t>
            </a:r>
            <a:r>
              <a:rPr lang="en-US" spc="140" dirty="0"/>
              <a:t> </a:t>
            </a:r>
          </a:p>
          <a:p>
            <a:r>
              <a:rPr lang="en-US" spc="140" dirty="0"/>
              <a:t>              </a:t>
            </a:r>
            <a:r>
              <a:rPr lang="en-US" spc="-10" dirty="0"/>
              <a:t>Transformer-</a:t>
            </a:r>
            <a:r>
              <a:rPr lang="en-US" dirty="0"/>
              <a:t>Based</a:t>
            </a:r>
            <a:r>
              <a:rPr lang="en-US" spc="145" dirty="0"/>
              <a:t> </a:t>
            </a:r>
            <a:r>
              <a:rPr lang="en-US" spc="-10" dirty="0"/>
              <a:t>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421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0920-CFF2-4245-A38B-9BA2439B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2870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b="1" u="sng" dirty="0"/>
              <a:t>Performance</a:t>
            </a:r>
            <a:r>
              <a:rPr lang="en-IN" b="1" u="sng" spc="30" dirty="0"/>
              <a:t> </a:t>
            </a:r>
            <a:r>
              <a:rPr lang="en-IN" b="1" u="sng" spc="-10" dirty="0"/>
              <a:t>Comparison</a:t>
            </a:r>
            <a:r>
              <a:rPr lang="en-IN" b="1" u="sng" spc="30" dirty="0"/>
              <a:t> </a:t>
            </a:r>
            <a:r>
              <a:rPr lang="en-IN" b="1" u="sng" dirty="0"/>
              <a:t>of</a:t>
            </a:r>
            <a:r>
              <a:rPr lang="en-IN" b="1" u="sng" spc="30" dirty="0"/>
              <a:t> </a:t>
            </a:r>
            <a:r>
              <a:rPr lang="en-IN" b="1" u="sng" spc="-10" dirty="0"/>
              <a:t>Models</a:t>
            </a:r>
            <a:endParaRPr lang="en-IN" b="1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9A526-2CF1-4806-A4DB-211F79A0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304" y="6350000"/>
            <a:ext cx="7084177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BC9E006-19D8-415F-A8FA-1B10E901C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333" y="2305050"/>
            <a:ext cx="7102672" cy="310515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FF3CDC-E00F-4C23-A8DE-886F50171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825" y="-19051"/>
            <a:ext cx="10191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86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C942-9174-411E-A10C-68F99EA5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447675"/>
            <a:ext cx="9288464" cy="1238250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br>
              <a:rPr lang="en-US" b="1" u="sng" dirty="0">
                <a:cs typeface="Gill Sans MT"/>
              </a:rPr>
            </a:br>
            <a:r>
              <a:rPr lang="en-US" b="1" u="sng" dirty="0">
                <a:cs typeface="Gill Sans MT"/>
              </a:rPr>
              <a:t>    Performance</a:t>
            </a:r>
            <a:r>
              <a:rPr lang="en-US" b="1" u="sng" spc="150" dirty="0">
                <a:cs typeface="Gill Sans MT"/>
              </a:rPr>
              <a:t> </a:t>
            </a:r>
            <a:r>
              <a:rPr lang="en-US" b="1" u="sng" dirty="0">
                <a:cs typeface="Gill Sans MT"/>
              </a:rPr>
              <a:t>of</a:t>
            </a:r>
            <a:r>
              <a:rPr lang="en-US" b="1" u="sng" spc="145" dirty="0">
                <a:cs typeface="Gill Sans MT"/>
              </a:rPr>
              <a:t> </a:t>
            </a:r>
            <a:r>
              <a:rPr lang="en-US" b="1" u="sng" dirty="0">
                <a:cs typeface="Gill Sans MT"/>
              </a:rPr>
              <a:t>Prompting</a:t>
            </a:r>
            <a:r>
              <a:rPr lang="en-US" b="1" u="sng" spc="150" dirty="0">
                <a:cs typeface="Gill Sans MT"/>
              </a:rPr>
              <a:t> </a:t>
            </a:r>
            <a:r>
              <a:rPr lang="en-US" b="1" u="sng" dirty="0">
                <a:cs typeface="Gill Sans MT"/>
              </a:rPr>
              <a:t>Techniques</a:t>
            </a:r>
            <a:r>
              <a:rPr lang="en-US" b="1" u="sng" spc="145" dirty="0">
                <a:cs typeface="Gill Sans MT"/>
              </a:rPr>
              <a:t> </a:t>
            </a:r>
            <a:r>
              <a:rPr lang="en-US" b="1" u="sng" dirty="0">
                <a:cs typeface="Gill Sans MT"/>
              </a:rPr>
              <a:t>on</a:t>
            </a:r>
            <a:r>
              <a:rPr lang="en-US" b="1" u="sng" spc="150" dirty="0">
                <a:cs typeface="Gill Sans MT"/>
              </a:rPr>
              <a:t> </a:t>
            </a:r>
            <a:r>
              <a:rPr lang="en-US" b="1" u="sng" dirty="0">
                <a:cs typeface="Gill Sans MT"/>
              </a:rPr>
              <a:t>Bengali</a:t>
            </a:r>
            <a:r>
              <a:rPr lang="en-US" b="1" u="sng" spc="150" dirty="0">
                <a:cs typeface="Gill Sans MT"/>
              </a:rPr>
              <a:t> </a:t>
            </a:r>
            <a:r>
              <a:rPr lang="en-US" b="1" u="sng" spc="-20" dirty="0">
                <a:cs typeface="Gill Sans MT"/>
              </a:rPr>
              <a:t>Fake </a:t>
            </a:r>
            <a:r>
              <a:rPr lang="en-US" b="1" u="sng" spc="-25" dirty="0">
                <a:cs typeface="Gill Sans MT"/>
              </a:rPr>
              <a:t>News</a:t>
            </a:r>
            <a:r>
              <a:rPr lang="en-US" b="1" u="sng" spc="-60" dirty="0">
                <a:cs typeface="Gill Sans MT"/>
              </a:rPr>
              <a:t> </a:t>
            </a:r>
            <a:r>
              <a:rPr lang="en-US" b="1" u="sng" spc="-10" dirty="0">
                <a:cs typeface="Gill Sans MT"/>
              </a:rPr>
              <a:t>Detection</a:t>
            </a:r>
            <a:br>
              <a:rPr lang="en-US" sz="4000" dirty="0">
                <a:latin typeface="Gill Sans MT"/>
                <a:cs typeface="Gill Sans MT"/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4261D8-BEA2-4901-83CD-50D34DCE2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633" y="2066925"/>
            <a:ext cx="8692072" cy="372427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7E665-FF20-4CD9-9FF9-8D3D10C4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0174" y="6410325"/>
            <a:ext cx="7084177" cy="365125"/>
          </a:xfrm>
        </p:spPr>
        <p:txBody>
          <a:bodyPr/>
          <a:lstStyle/>
          <a:p>
            <a:r>
              <a:rPr lang="en-US" dirty="0"/>
              <a:t>4th International Conference on Innovations in Data Analytics (ICIDA 2025)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DE79BE-EC5D-4D9C-9B19-D1E001921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825" y="-19051"/>
            <a:ext cx="10191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80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CB11-65B2-A341-0C5B-F7C2F343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405C-5BB0-2D88-2C14-F4617A0A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025" y="934703"/>
            <a:ext cx="9179959" cy="640680"/>
          </a:xfrm>
        </p:spPr>
        <p:txBody>
          <a:bodyPr>
            <a:noAutofit/>
          </a:bodyPr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A4E24-FA99-405B-0EB6-F59E7BC3F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55043"/>
            <a:ext cx="10360028" cy="4759996"/>
          </a:xfrm>
        </p:spPr>
        <p:txBody>
          <a:bodyPr/>
          <a:lstStyle/>
          <a:p>
            <a:pPr marL="12700" marR="123825">
              <a:lnSpc>
                <a:spcPct val="102600"/>
              </a:lnSpc>
              <a:spcBef>
                <a:spcPts val="55"/>
              </a:spcBef>
            </a:pP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-4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study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spc="-55" dirty="0">
                <a:solidFill>
                  <a:srgbClr val="000000"/>
                </a:solidFill>
              </a:rPr>
              <a:t>evaluates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spc="-35" dirty="0">
                <a:solidFill>
                  <a:srgbClr val="000000"/>
                </a:solidFill>
              </a:rPr>
              <a:t>Bengali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fake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spc="-90" dirty="0">
                <a:solidFill>
                  <a:srgbClr val="000000"/>
                </a:solidFill>
              </a:rPr>
              <a:t>news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30" dirty="0">
                <a:solidFill>
                  <a:srgbClr val="000000"/>
                </a:solidFill>
              </a:rPr>
              <a:t>detection</a:t>
            </a:r>
            <a:r>
              <a:rPr lang="en-US" sz="2400" spc="-10" dirty="0">
                <a:solidFill>
                  <a:srgbClr val="000000"/>
                </a:solidFill>
              </a:rPr>
              <a:t> </a:t>
            </a:r>
            <a:r>
              <a:rPr lang="en-US" sz="2400" spc="-50" dirty="0">
                <a:solidFill>
                  <a:srgbClr val="000000"/>
                </a:solidFill>
              </a:rPr>
              <a:t>using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rapid</a:t>
            </a:r>
            <a:r>
              <a:rPr lang="en-US" sz="2400" spc="-15" dirty="0">
                <a:solidFill>
                  <a:srgbClr val="000000"/>
                </a:solidFill>
              </a:rPr>
              <a:t> </a:t>
            </a:r>
            <a:r>
              <a:rPr lang="en-US" sz="2400" spc="-50" dirty="0">
                <a:solidFill>
                  <a:srgbClr val="000000"/>
                </a:solidFill>
              </a:rPr>
              <a:t>design </a:t>
            </a:r>
            <a:r>
              <a:rPr lang="en-US" sz="2400" spc="-45" dirty="0">
                <a:solidFill>
                  <a:srgbClr val="000000"/>
                </a:solidFill>
              </a:rPr>
              <a:t>and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multiple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ML </a:t>
            </a:r>
            <a:r>
              <a:rPr lang="en-US" sz="2400" spc="-40" dirty="0">
                <a:solidFill>
                  <a:srgbClr val="000000"/>
                </a:solidFill>
              </a:rPr>
              <a:t>methods,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spc="-30" dirty="0">
                <a:solidFill>
                  <a:srgbClr val="000000"/>
                </a:solidFill>
              </a:rPr>
              <a:t>including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BERT,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spc="-55" dirty="0" err="1">
                <a:solidFill>
                  <a:srgbClr val="000000"/>
                </a:solidFill>
              </a:rPr>
              <a:t>RoBERTa</a:t>
            </a:r>
            <a:r>
              <a:rPr lang="en-US" sz="2400" spc="-55" dirty="0">
                <a:solidFill>
                  <a:srgbClr val="000000"/>
                </a:solidFill>
              </a:rPr>
              <a:t>,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and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T5.</a:t>
            </a:r>
            <a:endParaRPr lang="en-US" sz="2400" dirty="0"/>
          </a:p>
          <a:p>
            <a:pPr marL="12700" marR="191770">
              <a:lnSpc>
                <a:spcPct val="102600"/>
              </a:lnSpc>
              <a:spcBef>
                <a:spcPts val="300"/>
              </a:spcBef>
            </a:pPr>
            <a:r>
              <a:rPr lang="en-US" sz="2400" spc="-20" dirty="0">
                <a:solidFill>
                  <a:srgbClr val="000000"/>
                </a:solidFill>
              </a:rPr>
              <a:t>Traditional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55" dirty="0">
                <a:solidFill>
                  <a:srgbClr val="000000"/>
                </a:solidFill>
              </a:rPr>
              <a:t>classifiers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spc="-80" dirty="0">
                <a:solidFill>
                  <a:srgbClr val="000000"/>
                </a:solidFill>
              </a:rPr>
              <a:t>show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moderate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55" dirty="0">
                <a:solidFill>
                  <a:srgbClr val="000000"/>
                </a:solidFill>
              </a:rPr>
              <a:t>accuracy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but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lack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50" dirty="0">
                <a:solidFill>
                  <a:srgbClr val="000000"/>
                </a:solidFill>
              </a:rPr>
              <a:t>robustness </a:t>
            </a:r>
            <a:r>
              <a:rPr lang="en-US" sz="2400" spc="-45" dirty="0">
                <a:solidFill>
                  <a:srgbClr val="000000"/>
                </a:solidFill>
              </a:rPr>
              <a:t>and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60" dirty="0">
                <a:solidFill>
                  <a:srgbClr val="000000"/>
                </a:solidFill>
              </a:rPr>
              <a:t>memory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against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50" dirty="0">
                <a:solidFill>
                  <a:srgbClr val="000000"/>
                </a:solidFill>
              </a:rPr>
              <a:t>deceptive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content.</a:t>
            </a:r>
            <a:endParaRPr lang="en-US" sz="2400" dirty="0"/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lang="en-US" sz="2400" spc="-35" dirty="0">
                <a:solidFill>
                  <a:srgbClr val="000000"/>
                </a:solidFill>
              </a:rPr>
              <a:t>Chain-</a:t>
            </a:r>
            <a:r>
              <a:rPr lang="en-US" sz="2400" spc="-30" dirty="0">
                <a:solidFill>
                  <a:srgbClr val="000000"/>
                </a:solidFill>
              </a:rPr>
              <a:t>of-</a:t>
            </a:r>
            <a:r>
              <a:rPr lang="en-US" sz="2400" spc="-10" dirty="0">
                <a:solidFill>
                  <a:srgbClr val="000000"/>
                </a:solidFill>
              </a:rPr>
              <a:t>thought</a:t>
            </a:r>
            <a:r>
              <a:rPr lang="en-US" sz="2400" spc="-5" dirty="0">
                <a:solidFill>
                  <a:srgbClr val="000000"/>
                </a:solidFill>
              </a:rPr>
              <a:t> </a:t>
            </a:r>
            <a:r>
              <a:rPr lang="en-US" sz="2400" spc="-20" dirty="0">
                <a:solidFill>
                  <a:srgbClr val="000000"/>
                </a:solidFill>
              </a:rPr>
              <a:t>prompting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greatly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40" dirty="0">
                <a:solidFill>
                  <a:srgbClr val="000000"/>
                </a:solidFill>
              </a:rPr>
              <a:t>boosts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35" dirty="0">
                <a:solidFill>
                  <a:srgbClr val="000000"/>
                </a:solidFill>
              </a:rPr>
              <a:t>transformer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performance </a:t>
            </a:r>
            <a:r>
              <a:rPr lang="en-US" sz="2400" spc="-55" dirty="0">
                <a:solidFill>
                  <a:srgbClr val="000000"/>
                </a:solidFill>
              </a:rPr>
              <a:t>especially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T5,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80" dirty="0">
                <a:solidFill>
                  <a:srgbClr val="000000"/>
                </a:solidFill>
              </a:rPr>
              <a:t>even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in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65" dirty="0">
                <a:solidFill>
                  <a:srgbClr val="000000"/>
                </a:solidFill>
              </a:rPr>
              <a:t>low-</a:t>
            </a:r>
            <a:r>
              <a:rPr lang="en-US" sz="2400" spc="-55" dirty="0">
                <a:solidFill>
                  <a:srgbClr val="000000"/>
                </a:solidFill>
              </a:rPr>
              <a:t>resource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30" dirty="0">
                <a:solidFill>
                  <a:srgbClr val="000000"/>
                </a:solidFill>
              </a:rPr>
              <a:t>settings,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60" dirty="0">
                <a:solidFill>
                  <a:srgbClr val="000000"/>
                </a:solidFill>
              </a:rPr>
              <a:t>emphasizing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the</a:t>
            </a:r>
            <a:r>
              <a:rPr lang="en-US" sz="2400" spc="10" dirty="0">
                <a:solidFill>
                  <a:srgbClr val="000000"/>
                </a:solidFill>
              </a:rPr>
              <a:t> </a:t>
            </a:r>
            <a:r>
              <a:rPr lang="en-US" sz="2400" spc="-80" dirty="0">
                <a:solidFill>
                  <a:srgbClr val="000000"/>
                </a:solidFill>
              </a:rPr>
              <a:t>need</a:t>
            </a:r>
            <a:r>
              <a:rPr lang="en-US" sz="2400" spc="15" dirty="0">
                <a:solidFill>
                  <a:srgbClr val="000000"/>
                </a:solidFill>
              </a:rPr>
              <a:t> </a:t>
            </a:r>
            <a:r>
              <a:rPr lang="en-US" sz="2400" spc="-25" dirty="0">
                <a:solidFill>
                  <a:srgbClr val="000000"/>
                </a:solidFill>
              </a:rPr>
              <a:t>for </a:t>
            </a:r>
            <a:r>
              <a:rPr lang="en-US" sz="2400" spc="-40" dirty="0">
                <a:solidFill>
                  <a:srgbClr val="000000"/>
                </a:solidFill>
              </a:rPr>
              <a:t>larger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45" dirty="0">
                <a:solidFill>
                  <a:srgbClr val="000000"/>
                </a:solidFill>
              </a:rPr>
              <a:t>and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55" dirty="0">
                <a:solidFill>
                  <a:srgbClr val="000000"/>
                </a:solidFill>
              </a:rPr>
              <a:t>more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spc="-70" dirty="0">
                <a:solidFill>
                  <a:srgbClr val="000000"/>
                </a:solidFill>
              </a:rPr>
              <a:t>diverse</a:t>
            </a:r>
            <a:r>
              <a:rPr lang="en-US" sz="2400" spc="5" dirty="0">
                <a:solidFill>
                  <a:srgbClr val="000000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datasets.</a:t>
            </a:r>
            <a:endParaRPr lang="en-US" sz="24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89AD6-FB85-0C14-371E-F750A0FA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7650" y="6436469"/>
            <a:ext cx="5686425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A27CF0-07CD-4351-AE23-CCD1B4B7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18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067D-AD5C-9B86-006B-88D5226E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A20-E2EA-CFED-7F4C-FCAE7DED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71450"/>
            <a:ext cx="9323598" cy="588717"/>
          </a:xfrm>
        </p:spPr>
        <p:txBody>
          <a:bodyPr>
            <a:noAutofit/>
          </a:bodyPr>
          <a:lstStyle/>
          <a:p>
            <a:r>
              <a:rPr lang="en-IN" b="1" u="sng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02DD-BA99-50FE-2DDE-BE221169C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2" y="1000126"/>
            <a:ext cx="10018713" cy="5219700"/>
          </a:xfrm>
        </p:spPr>
        <p:txBody>
          <a:bodyPr>
            <a:normAutofit fontScale="85000" lnSpcReduction="10000"/>
          </a:bodyPr>
          <a:lstStyle/>
          <a:p>
            <a:pPr marL="12700" marR="156210">
              <a:lnSpc>
                <a:spcPct val="101499"/>
              </a:lnSpc>
              <a:spcBef>
                <a:spcPts val="80"/>
              </a:spcBef>
            </a:pP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Rahman,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Ahmed,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Sultana,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J.,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”Combating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misinformation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Bangla: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Challenges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and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resources,”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the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2023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Conference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on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Empirical Methods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Natural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Processing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(EMNLP),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11245–11256,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2023.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181610" algn="just">
              <a:lnSpc>
                <a:spcPct val="101499"/>
              </a:lnSpc>
              <a:spcBef>
                <a:spcPts val="819"/>
              </a:spcBef>
            </a:pP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Castillo,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Mendoza,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Poblete,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”Information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credibility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on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Twitter,”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the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20th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International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Conference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on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World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Wide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Web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(WWW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’11),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675–684,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ACM,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2011.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81915">
              <a:lnSpc>
                <a:spcPct val="101499"/>
              </a:lnSpc>
              <a:spcBef>
                <a:spcPts val="819"/>
              </a:spcBef>
            </a:pP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Wang,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W.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Y.,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”Liar,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Liar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Pants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on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Fire:</a:t>
            </a:r>
            <a:r>
              <a:rPr lang="en-IN" sz="2400" spc="1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benchmark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dataset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detection,”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ACL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2017,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422–426,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2017.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31750">
              <a:lnSpc>
                <a:spcPct val="101499"/>
              </a:lnSpc>
              <a:spcBef>
                <a:spcPts val="770"/>
              </a:spcBef>
            </a:pP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Hossain,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Hasan,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Murase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H.,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</a:t>
            </a:r>
            <a:r>
              <a:rPr lang="en-IN" sz="2400" spc="-25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BanFakeNews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:</a:t>
            </a:r>
            <a:r>
              <a:rPr lang="en-IN" sz="2400" spc="1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benchmark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dataset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Bangla,”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LREC’20,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2869–2876,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2020.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770"/>
              </a:spcBef>
            </a:pP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Roy,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F.,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Surname,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A.,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et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al.,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”Enhancing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Bangla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with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BI-GRU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and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deep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learning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models,”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arXiv:2401.12345,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2024.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24765">
              <a:lnSpc>
                <a:spcPct val="101499"/>
              </a:lnSpc>
              <a:spcBef>
                <a:spcPts val="770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Brown,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Mann,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B.,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Ryder,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Subbiah,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Kaplan,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J.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D.,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Dhariwal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et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al., ”Language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models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are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few-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shot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learners,”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NeurIPS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vol. 33, pp.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1877–1901,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2020.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5F4E3-F869-DFE9-F2D0-D532784C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4837" y="6459785"/>
            <a:ext cx="5329237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9C68C9-2400-6CC5-55B8-A41278D3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79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067D-AD5C-9B86-006B-88D5226E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A20-E2EA-CFED-7F4C-FCAE7DED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867" y="159422"/>
            <a:ext cx="9323598" cy="554954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Bibliography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02DD-BA99-50FE-2DDE-BE221169C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095375"/>
            <a:ext cx="10018713" cy="5383459"/>
          </a:xfrm>
        </p:spPr>
        <p:txBody>
          <a:bodyPr>
            <a:normAutofit fontScale="85000" lnSpcReduction="10000"/>
          </a:bodyPr>
          <a:lstStyle/>
          <a:p>
            <a:pPr marL="12700" marR="43180">
              <a:lnSpc>
                <a:spcPct val="101499"/>
              </a:lnSpc>
              <a:spcBef>
                <a:spcPts val="80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Devlin,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J.,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Chang,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M.-W.,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Lee,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K.,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Toutanova,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K.,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”BERT: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Pre-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training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deep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bidirectional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transformers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understanding,”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NAACL-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HLT,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2019.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121920">
              <a:lnSpc>
                <a:spcPct val="101499"/>
              </a:lnSpc>
              <a:spcBef>
                <a:spcPts val="705"/>
              </a:spcBef>
            </a:pP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Radford,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A.,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Narasimhan,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K.,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Salimans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T.,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6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Sutskever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I.,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”Improving</a:t>
            </a:r>
            <a:r>
              <a:rPr lang="en-IN" sz="2400" spc="5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 understanding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by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generative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pre-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training,”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OpenAI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Technical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Report,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2018.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765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Liu,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P.,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Yuan,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W.,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Fu,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J.,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Jiang,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Z.,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Hayashi,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Neubig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G.,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”Pre-train,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prompt, and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predict: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systematic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survey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prompting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methods,”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NAACL-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HLT,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4093–4114,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2021.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265430">
              <a:lnSpc>
                <a:spcPct val="101499"/>
              </a:lnSpc>
              <a:spcBef>
                <a:spcPts val="765"/>
              </a:spcBef>
            </a:pP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Schick,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T.,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Sch</a:t>
            </a:r>
            <a:r>
              <a:rPr lang="en-IN" sz="2400" spc="-495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u</a:t>
            </a:r>
            <a:r>
              <a:rPr lang="en-IN" sz="2400" spc="5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¨</a:t>
            </a: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tze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H.,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”Exploiting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cloze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questions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few-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shot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text classification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and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natural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inference,”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of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EACL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2021,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255–269,</a:t>
            </a:r>
            <a:r>
              <a:rPr lang="en-IN" sz="2400" spc="-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2021.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Chowdhury,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T.,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Ghosh,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D.,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Bhattacharya,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P.,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”Zero-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shot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learning</a:t>
            </a:r>
            <a:r>
              <a:rPr lang="en-IN" sz="2400" spc="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low-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resource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Indian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languages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using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multilingual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transformers,”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FIRE,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2023.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201295">
              <a:lnSpc>
                <a:spcPct val="101499"/>
              </a:lnSpc>
              <a:spcBef>
                <a:spcPts val="765"/>
              </a:spcBef>
            </a:pP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Rahman,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Mondal,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T.,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Barman,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A.,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”Few-shot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prompting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hate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speech detection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Bengali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using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models,”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arXiv:2401.XXXX,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Under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Review,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2024.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5F4E3-F869-DFE9-F2D0-D532784C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4837" y="6459785"/>
            <a:ext cx="5329237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9C68C9-2400-6CC5-55B8-A41278D3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44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067D-AD5C-9B86-006B-88D5226E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A20-E2EA-CFED-7F4C-FCAE7DED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5" y="398215"/>
            <a:ext cx="9323598" cy="554954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Bibliography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02DD-BA99-50FE-2DDE-BE221169C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85888"/>
            <a:ext cx="10018713" cy="5073897"/>
          </a:xfrm>
        </p:spPr>
        <p:txBody>
          <a:bodyPr>
            <a:normAutofit fontScale="85000" lnSpcReduction="10000"/>
          </a:bodyPr>
          <a:lstStyle/>
          <a:p>
            <a:pPr marL="12700" marR="69215">
              <a:lnSpc>
                <a:spcPct val="101499"/>
              </a:lnSpc>
              <a:spcBef>
                <a:spcPts val="80"/>
              </a:spcBef>
            </a:pP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Banerjee,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Ghosh,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Das,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”Chain-of-thought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prompting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low-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resource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languages:</a:t>
            </a:r>
            <a:r>
              <a:rPr lang="en-IN" sz="2400" spc="1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Experiments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with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Bengali,”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Findings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ACL,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845–857,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2024.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26670">
              <a:lnSpc>
                <a:spcPct val="101499"/>
              </a:lnSpc>
              <a:spcBef>
                <a:spcPts val="770"/>
              </a:spcBef>
            </a:pPr>
            <a:r>
              <a:rPr lang="en-IN" sz="2400" spc="-1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Tacchini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Ballarin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G.,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Della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Vedova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Moret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Alfaro,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”Some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like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it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hoax:</a:t>
            </a:r>
            <a:r>
              <a:rPr lang="en-IN" sz="2400" spc="1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Automated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social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networks,”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arXiv:1704.07506, 2017.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361950">
              <a:lnSpc>
                <a:spcPct val="101499"/>
              </a:lnSpc>
              <a:spcBef>
                <a:spcPts val="600"/>
              </a:spcBef>
            </a:pPr>
            <a:r>
              <a:rPr lang="en-IN" sz="2400" spc="-4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Ruchansky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Seo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Liu,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Y.,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”CSI: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hybrid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deep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model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detection,”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CIKM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’17,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797–806,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2017.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19685">
              <a:lnSpc>
                <a:spcPct val="101499"/>
              </a:lnSpc>
              <a:spcBef>
                <a:spcPts val="770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Zhou,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X.,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Zafarani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8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”A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survey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news:</a:t>
            </a:r>
            <a:r>
              <a:rPr lang="en-IN" sz="2400" spc="10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Fundamental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theories,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methods,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and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opportunities,”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ACM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Computing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Surveys,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53(5),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109–110940, 2020.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467995">
              <a:lnSpc>
                <a:spcPct val="101499"/>
              </a:lnSpc>
              <a:spcBef>
                <a:spcPts val="600"/>
              </a:spcBef>
            </a:pP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D’Ulizia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Ferrara,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Grifoni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”Fake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detection:</a:t>
            </a:r>
            <a:r>
              <a:rPr lang="en-IN" sz="2400" spc="1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survey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evaluation</a:t>
            </a:r>
            <a:r>
              <a:rPr lang="en-IN" sz="2400" spc="-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datasets</a:t>
            </a:r>
            <a:r>
              <a:rPr lang="en-IN" sz="2400" spc="-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and</a:t>
            </a:r>
            <a:r>
              <a:rPr lang="en-IN" sz="2400" spc="-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techniques,”</a:t>
            </a:r>
            <a:r>
              <a:rPr lang="en-IN" sz="2400" spc="-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Information,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12(3),</a:t>
            </a:r>
            <a:r>
              <a:rPr lang="en-IN" sz="2400" spc="-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109,</a:t>
            </a:r>
            <a:r>
              <a:rPr lang="en-IN" sz="2400" spc="-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2021.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819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Wu,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X.,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Zhang,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X.,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Li,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J.,</a:t>
            </a:r>
            <a:r>
              <a:rPr lang="en-IN" sz="2400" spc="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”Prompt-and-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align:</a:t>
            </a:r>
            <a:r>
              <a:rPr lang="en-IN" sz="2400" spc="1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Prompt-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based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few-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shot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with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social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graph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alignment,”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SIGIR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2023,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1234–1243,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2023.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5F4E3-F869-DFE9-F2D0-D532784C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4837" y="6459785"/>
            <a:ext cx="5329237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9C68C9-2400-6CC5-55B8-A41278D3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80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067D-AD5C-9B86-006B-88D5226E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A20-E2EA-CFED-7F4C-FCAE7DED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8472"/>
            <a:ext cx="9323598" cy="554954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Bibliography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02DD-BA99-50FE-2DDE-BE221169C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66800"/>
            <a:ext cx="10018713" cy="5133975"/>
          </a:xfrm>
        </p:spPr>
        <p:txBody>
          <a:bodyPr>
            <a:normAutofit fontScale="85000" lnSpcReduction="10000"/>
          </a:bodyPr>
          <a:lstStyle/>
          <a:p>
            <a:pPr marL="12700" marR="152400">
              <a:lnSpc>
                <a:spcPct val="101499"/>
              </a:lnSpc>
              <a:spcBef>
                <a:spcPts val="80"/>
              </a:spcBef>
            </a:pP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Alghamdi,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”Cross-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domain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using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prompt-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based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zero-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shot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learning,”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Applied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5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Sciences,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14(4),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1234,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2024.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45720">
              <a:lnSpc>
                <a:spcPct val="101499"/>
              </a:lnSpc>
              <a:spcBef>
                <a:spcPts val="815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F.,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 ”Few-shot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news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via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prompt-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based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tuning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and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contextual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augmentation,”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Journal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Intelligent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Fuzzy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Systems,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45(6),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789–802,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2023.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283845" algn="just">
              <a:lnSpc>
                <a:spcPct val="101499"/>
              </a:lnSpc>
              <a:spcBef>
                <a:spcPts val="819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”Prompt-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based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fine-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tuning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Bangla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models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sequence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classification,”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Proceedings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of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the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International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Conference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on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Computational Linguistics,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 </a:t>
            </a:r>
            <a:r>
              <a:rPr lang="en-IN" sz="2400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456–465,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2023.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81915">
              <a:lnSpc>
                <a:spcPct val="101499"/>
              </a:lnSpc>
              <a:spcBef>
                <a:spcPts val="765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Kar,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Thapa,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Chakraborty,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”No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rumours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please!</a:t>
            </a:r>
            <a:r>
              <a:rPr lang="en-IN" sz="2400" spc="1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multilingual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approach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for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COVID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fake-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tweet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detection,”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CONSTRAINT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Workshop,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pp.</a:t>
            </a:r>
            <a:r>
              <a:rPr lang="en-IN" sz="2400" spc="1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61–70, 2020.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Wei,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J.,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Wang,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X.,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Schuurmans,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Bosma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Ichter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B.,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Xia,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F.,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Chi,</a:t>
            </a:r>
            <a:r>
              <a:rPr lang="en-IN" sz="2400" spc="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E.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Le,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Q.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V.,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Zhou,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D.,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”Chain-of-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thought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prompting</a:t>
            </a:r>
            <a:r>
              <a:rPr lang="en-IN" sz="2400" spc="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elicits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3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reasoning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large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language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models,”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arXiv:2201.11903,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2022.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2700" marR="160655">
              <a:lnSpc>
                <a:spcPct val="101499"/>
              </a:lnSpc>
              <a:spcBef>
                <a:spcPts val="705"/>
              </a:spcBef>
            </a:pPr>
            <a:r>
              <a:rPr lang="en-IN" sz="2400" spc="-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Hosmer,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D.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0" dirty="0" err="1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Lemeshow</a:t>
            </a:r>
            <a:r>
              <a:rPr lang="en-IN" sz="2400" spc="-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9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&amp;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Sturdivant,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R.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X.,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Applied</a:t>
            </a:r>
            <a:r>
              <a:rPr lang="en-IN" sz="2400" spc="2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Logistic</a:t>
            </a:r>
            <a:r>
              <a:rPr lang="en-IN" sz="2400" spc="2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4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Regression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(3rd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ed.),</a:t>
            </a:r>
            <a:r>
              <a:rPr lang="en-IN" sz="24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Wiley,</a:t>
            </a:r>
            <a:r>
              <a:rPr lang="en-IN" sz="24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IN" sz="2400" spc="-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2013.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5F4E3-F869-DFE9-F2D0-D532784C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4837" y="6459785"/>
            <a:ext cx="5329237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9C68C9-2400-6CC5-55B8-A41278D3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32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067D-AD5C-9B86-006B-88D5226E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A20-E2EA-CFED-7F4C-FCAE7DED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359447"/>
            <a:ext cx="9323598" cy="554954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Bibliography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02DD-BA99-50FE-2DDE-BE221169C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85888"/>
            <a:ext cx="10018713" cy="5112665"/>
          </a:xfrm>
        </p:spPr>
        <p:txBody>
          <a:bodyPr>
            <a:normAutofit/>
          </a:bodyPr>
          <a:lstStyle/>
          <a:p>
            <a:pPr marR="137160">
              <a:lnSpc>
                <a:spcPct val="101499"/>
              </a:lnSpc>
              <a:spcBef>
                <a:spcPts val="80"/>
              </a:spcBef>
            </a:pPr>
            <a:r>
              <a:rPr lang="en-IN" spc="-10" dirty="0" err="1">
                <a:solidFill>
                  <a:schemeClr val="accent6">
                    <a:lumMod val="50000"/>
                  </a:schemeClr>
                </a:solidFill>
              </a:rPr>
              <a:t>Breiman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IN" spc="3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L.,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Friedman,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J.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H.,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30" dirty="0" err="1">
                <a:solidFill>
                  <a:schemeClr val="accent6">
                    <a:lumMod val="50000"/>
                  </a:schemeClr>
                </a:solidFill>
              </a:rPr>
              <a:t>Olshen</a:t>
            </a:r>
            <a:r>
              <a:rPr lang="en-IN" spc="-3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R.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A.,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95" dirty="0">
                <a:solidFill>
                  <a:schemeClr val="accent6">
                    <a:lumMod val="50000"/>
                  </a:schemeClr>
                </a:solidFill>
              </a:rPr>
              <a:t>&amp;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Stone,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C.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J.,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Classification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and </a:t>
            </a:r>
            <a:r>
              <a:rPr lang="en-IN" spc="-50" dirty="0">
                <a:solidFill>
                  <a:schemeClr val="accent6">
                    <a:lumMod val="50000"/>
                  </a:schemeClr>
                </a:solidFill>
              </a:rPr>
              <a:t>Regression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35" dirty="0">
                <a:solidFill>
                  <a:schemeClr val="accent6">
                    <a:lumMod val="50000"/>
                  </a:schemeClr>
                </a:solidFill>
              </a:rPr>
              <a:t>Trees,</a:t>
            </a:r>
            <a:r>
              <a:rPr lang="en-IN" spc="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30" dirty="0">
                <a:solidFill>
                  <a:schemeClr val="accent6">
                    <a:lumMod val="50000"/>
                  </a:schemeClr>
                </a:solidFill>
              </a:rPr>
              <a:t>Chapman</a:t>
            </a:r>
            <a:r>
              <a:rPr lang="en-IN" spc="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and</a:t>
            </a:r>
            <a:r>
              <a:rPr lang="en-IN" spc="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Hall/CRC,</a:t>
            </a:r>
            <a:r>
              <a:rPr lang="en-IN" spc="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1984.</a:t>
            </a: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lang="en-IN" spc="-10" dirty="0" err="1">
                <a:solidFill>
                  <a:schemeClr val="accent6">
                    <a:lumMod val="50000"/>
                  </a:schemeClr>
                </a:solidFill>
              </a:rPr>
              <a:t>Breiman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IN" spc="-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L., ”Random forests,”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Machine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Learning,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 45, pp.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5–32,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2001.</a:t>
            </a:r>
          </a:p>
          <a:p>
            <a:pPr marR="5080">
              <a:lnSpc>
                <a:spcPct val="101499"/>
              </a:lnSpc>
              <a:spcBef>
                <a:spcPts val="960"/>
              </a:spcBef>
            </a:pP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Friedman,</a:t>
            </a:r>
            <a:r>
              <a:rPr lang="en-IN" spc="1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J.</a:t>
            </a:r>
            <a:r>
              <a:rPr lang="en-IN" spc="1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H.,</a:t>
            </a:r>
            <a:r>
              <a:rPr lang="en-IN" spc="1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”Greedy</a:t>
            </a:r>
            <a:r>
              <a:rPr lang="en-IN" spc="1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function</a:t>
            </a:r>
            <a:r>
              <a:rPr lang="en-IN" spc="1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approximation:</a:t>
            </a:r>
            <a:r>
              <a:rPr lang="en-IN" spc="1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IN" spc="1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gradient</a:t>
            </a:r>
            <a:r>
              <a:rPr lang="en-IN" spc="1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boosting</a:t>
            </a:r>
            <a:r>
              <a:rPr lang="en-IN" spc="1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machine,”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Annals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of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Statistics,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29(5),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pp.</a:t>
            </a:r>
            <a:r>
              <a:rPr lang="en-IN" spc="3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35" dirty="0">
                <a:solidFill>
                  <a:schemeClr val="accent6">
                    <a:lumMod val="50000"/>
                  </a:schemeClr>
                </a:solidFill>
              </a:rPr>
              <a:t>1189–1232,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2001.</a:t>
            </a:r>
          </a:p>
          <a:p>
            <a:pPr marR="219075">
              <a:lnSpc>
                <a:spcPct val="101499"/>
              </a:lnSpc>
              <a:spcBef>
                <a:spcPts val="835"/>
              </a:spcBef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Liu,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Y.,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Ott,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M.,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30" dirty="0">
                <a:solidFill>
                  <a:schemeClr val="accent6">
                    <a:lumMod val="50000"/>
                  </a:schemeClr>
                </a:solidFill>
              </a:rPr>
              <a:t>Goyal,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N.,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Du,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J.,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Joshi,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M.,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30" dirty="0">
                <a:solidFill>
                  <a:schemeClr val="accent6">
                    <a:lumMod val="50000"/>
                  </a:schemeClr>
                </a:solidFill>
              </a:rPr>
              <a:t>Chen,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D.,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30" dirty="0">
                <a:solidFill>
                  <a:schemeClr val="accent6">
                    <a:lumMod val="50000"/>
                  </a:schemeClr>
                </a:solidFill>
              </a:rPr>
              <a:t>Levy,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O.,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Lewis,</a:t>
            </a:r>
            <a:r>
              <a:rPr lang="en-IN" spc="5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M., </a:t>
            </a:r>
            <a:r>
              <a:rPr lang="en-IN" spc="-10" dirty="0" err="1">
                <a:solidFill>
                  <a:schemeClr val="accent6">
                    <a:lumMod val="50000"/>
                  </a:schemeClr>
                </a:solidFill>
              </a:rPr>
              <a:t>Zettlemoyer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L.,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95" dirty="0">
                <a:solidFill>
                  <a:schemeClr val="accent6">
                    <a:lumMod val="50000"/>
                  </a:schemeClr>
                </a:solidFill>
              </a:rPr>
              <a:t>&amp;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30" dirty="0" err="1">
                <a:solidFill>
                  <a:schemeClr val="accent6">
                    <a:lumMod val="50000"/>
                  </a:schemeClr>
                </a:solidFill>
              </a:rPr>
              <a:t>Stoyanov</a:t>
            </a:r>
            <a:r>
              <a:rPr lang="en-IN" spc="-3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V.,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r>
              <a:rPr lang="en-IN" dirty="0" err="1">
                <a:solidFill>
                  <a:schemeClr val="accent6">
                    <a:lumMod val="50000"/>
                  </a:schemeClr>
                </a:solidFill>
              </a:rPr>
              <a:t>RoBERTa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:</a:t>
            </a:r>
            <a:r>
              <a:rPr lang="en-IN" spc="1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robustly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optimized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BERT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pretraining</a:t>
            </a:r>
            <a:r>
              <a:rPr lang="en-IN" spc="1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approach,”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arXiv:1907.11692,</a:t>
            </a:r>
            <a:r>
              <a:rPr lang="en-IN" spc="1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2019.</a:t>
            </a:r>
          </a:p>
          <a:p>
            <a:pPr marR="22225">
              <a:lnSpc>
                <a:spcPct val="101499"/>
              </a:lnSpc>
              <a:spcBef>
                <a:spcPts val="785"/>
              </a:spcBef>
            </a:pPr>
            <a:r>
              <a:rPr lang="en-IN" spc="-10" dirty="0" err="1">
                <a:solidFill>
                  <a:schemeClr val="accent6">
                    <a:lumMod val="50000"/>
                  </a:schemeClr>
                </a:solidFill>
              </a:rPr>
              <a:t>Raffel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C.,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45" dirty="0" err="1">
                <a:solidFill>
                  <a:schemeClr val="accent6">
                    <a:lumMod val="50000"/>
                  </a:schemeClr>
                </a:solidFill>
              </a:rPr>
              <a:t>Shazeer</a:t>
            </a:r>
            <a:r>
              <a:rPr lang="en-IN" spc="-45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N.,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Roberts,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A.,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5" dirty="0">
                <a:solidFill>
                  <a:schemeClr val="accent6">
                    <a:lumMod val="50000"/>
                  </a:schemeClr>
                </a:solidFill>
              </a:rPr>
              <a:t>Lee,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K.,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Narang,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S.,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 err="1">
                <a:solidFill>
                  <a:schemeClr val="accent6">
                    <a:lumMod val="50000"/>
                  </a:schemeClr>
                </a:solidFill>
              </a:rPr>
              <a:t>Matena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M.,</a:t>
            </a:r>
            <a:r>
              <a:rPr lang="en-IN" spc="2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et</a:t>
            </a:r>
            <a:r>
              <a:rPr lang="en-IN" spc="2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al.,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”Exploring</a:t>
            </a:r>
            <a:r>
              <a:rPr lang="en-IN" spc="3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the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limits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of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transfer</a:t>
            </a:r>
            <a:r>
              <a:rPr lang="en-IN" spc="3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learning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with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a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unified</a:t>
            </a:r>
            <a:r>
              <a:rPr lang="en-IN" spc="3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text-to-text</a:t>
            </a:r>
            <a:r>
              <a:rPr lang="en-IN" spc="3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transformer,”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JMLR,</a:t>
            </a:r>
            <a:r>
              <a:rPr lang="en-IN" spc="-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21(140),</a:t>
            </a:r>
            <a:r>
              <a:rPr lang="en-IN" spc="-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pp.</a:t>
            </a:r>
            <a:r>
              <a:rPr lang="en-IN" spc="-5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20" dirty="0">
                <a:solidFill>
                  <a:schemeClr val="accent6">
                    <a:lumMod val="50000"/>
                  </a:schemeClr>
                </a:solidFill>
              </a:rPr>
              <a:t>1–67,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spc="-10" dirty="0">
                <a:solidFill>
                  <a:schemeClr val="accent6">
                    <a:lumMod val="50000"/>
                  </a:schemeClr>
                </a:solidFill>
              </a:rPr>
              <a:t>2020.</a:t>
            </a:r>
          </a:p>
          <a:p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5F4E3-F869-DFE9-F2D0-D532784C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4837" y="6459785"/>
            <a:ext cx="5329237" cy="365125"/>
          </a:xfrm>
        </p:spPr>
        <p:txBody>
          <a:bodyPr/>
          <a:lstStyle/>
          <a:p>
            <a:r>
              <a:rPr lang="en-US" sz="1100" b="1" dirty="0"/>
              <a:t>4th International Conference on Innovations in Data Analytics (ICIDA 2025)</a:t>
            </a:r>
            <a:endParaRPr lang="en-IN" sz="11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9C68C9-2400-6CC5-55B8-A41278D3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30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45D4-B45C-AC55-2DDC-C178A844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57BF-9B49-9AD6-8A28-03435374F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2500313"/>
            <a:ext cx="8574622" cy="928688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b="1" dirty="0"/>
              <a:t>Thank You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C771B-2873-7DE7-1346-0CD31067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00686" y="6302622"/>
            <a:ext cx="5843578" cy="365125"/>
          </a:xfrm>
        </p:spPr>
        <p:txBody>
          <a:bodyPr/>
          <a:lstStyle/>
          <a:p>
            <a:r>
              <a:rPr lang="en-US" sz="1200" b="1" dirty="0"/>
              <a:t>4</a:t>
            </a:r>
            <a:r>
              <a:rPr lang="en-US" sz="1200" b="1" baseline="30000" dirty="0"/>
              <a:t>th</a:t>
            </a:r>
            <a:r>
              <a:rPr lang="en-US" sz="1200" b="1" dirty="0"/>
              <a:t> International Conference on Innovations in Data Analytics (ICIDA 2025)</a:t>
            </a:r>
            <a:endParaRPr lang="en-IN" sz="1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A39F6-A753-609D-C67C-9E942923D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734" y="-1"/>
            <a:ext cx="1392792" cy="1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01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348</TotalTime>
  <Words>2439</Words>
  <Application>Microsoft Office PowerPoint</Application>
  <PresentationFormat>Widescreen</PresentationFormat>
  <Paragraphs>686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Corbel</vt:lpstr>
      <vt:lpstr>Corbel headings</vt:lpstr>
      <vt:lpstr>Gill Sans MT</vt:lpstr>
      <vt:lpstr>Lucida Sans Unicode</vt:lpstr>
      <vt:lpstr>Parallax</vt:lpstr>
      <vt:lpstr>Prompting-based fake news detection framework for Bengali  Paper ID – 308     Shillpi Mishrra, Arpita Dhar, Somnath Mondal,  Aditi Ghosh, Sauvik Bal </vt:lpstr>
      <vt:lpstr>Table of Contents</vt:lpstr>
      <vt:lpstr>Introduction</vt:lpstr>
      <vt:lpstr>Early Work </vt:lpstr>
      <vt:lpstr>PowerPoint Presentation</vt:lpstr>
      <vt:lpstr>Problem Description</vt:lpstr>
      <vt:lpstr>Novelty</vt:lpstr>
      <vt:lpstr>Methodology</vt:lpstr>
      <vt:lpstr>Traditional Machine Learning Models</vt:lpstr>
      <vt:lpstr>Transformer-Based Architectures</vt:lpstr>
      <vt:lpstr>Prompt Techniques</vt:lpstr>
      <vt:lpstr>Prompt Engineering</vt:lpstr>
      <vt:lpstr>Experimental Setup</vt:lpstr>
      <vt:lpstr>Prompt Example-1 </vt:lpstr>
      <vt:lpstr>Prompt Example-2 </vt:lpstr>
      <vt:lpstr>Dataset Details</vt:lpstr>
      <vt:lpstr>Experimental Results</vt:lpstr>
      <vt:lpstr>Performance Comparison of Models</vt:lpstr>
      <vt:lpstr>     Performance of Prompting Techniques on Bengali Fake News Detection </vt:lpstr>
      <vt:lpstr>Conclusion</vt:lpstr>
      <vt:lpstr>Bibliography</vt:lpstr>
      <vt:lpstr>Bibliography</vt:lpstr>
      <vt:lpstr>Bibliography</vt:lpstr>
      <vt:lpstr>Bibliography</vt:lpstr>
      <vt:lpstr>Bibliography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Prompting-based fake news detection framework for Bengali  Paper ID – 308     Shillpi Mishrra, Arpita Dhar, Somnath Mondal,  Aditi Ghosh, Sauvik Bal</dc:title>
  <dc:creator>indrajit.pan@hotmail.com</dc:creator>
  <cp:lastModifiedBy>Arpita Dhar</cp:lastModifiedBy>
  <cp:revision>28</cp:revision>
  <dcterms:created xsi:type="dcterms:W3CDTF">2025-11-16T19:10:11Z</dcterms:created>
  <dcterms:modified xsi:type="dcterms:W3CDTF">2025-11-29T19:50:27Z</dcterms:modified>
</cp:coreProperties>
</file>